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Azure</c:v>
                </c:pt>
              </c:strCache>
            </c:strRef>
          </c:tx>
          <c:spPr>
            <a:solidFill>
              <a:srgbClr val="1168BD"/>
            </a:solidFill>
          </c:spPr>
          <c:cat>
            <c:strRef>
              <c:f>Sheet1!$A$2:$A$8</c:f>
              <c:strCache>
                <c:ptCount val="7"/>
                <c:pt idx="0">
                  <c:v>Computación</c:v>
                </c:pt>
                <c:pt idx="1">
                  <c:v>Almacenamiento y Bases de Datos</c:v>
                </c:pt>
                <c:pt idx="2">
                  <c:v>Redes</c:v>
                </c:pt>
                <c:pt idx="3">
                  <c:v>Seguridad</c:v>
                </c:pt>
                <c:pt idx="4">
                  <c:v>Monitoreo y Logs</c:v>
                </c:pt>
                <c:pt idx="5">
                  <c:v>Servicios de Plataforma</c:v>
                </c:pt>
                <c:pt idx="6">
                  <c:v>Ambiente Dev/Test</c:v>
                </c:pt>
              </c:strCache>
            </c:strRef>
          </c:cat>
          <c:val>
            <c:numRef>
              <c:f>Sheet1!$B$2:$B$8</c:f>
              <c:numCache>
                <c:formatCode>General</c:formatCode>
                <c:ptCount val="7"/>
                <c:pt idx="0">
                  <c:v>1195.88</c:v>
                </c:pt>
                <c:pt idx="1">
                  <c:v>1510.12</c:v>
                </c:pt>
                <c:pt idx="2">
                  <c:v>1886.34</c:v>
                </c:pt>
                <c:pt idx="3">
                  <c:v>197.86</c:v>
                </c:pt>
                <c:pt idx="4">
                  <c:v>636.2</c:v>
                </c:pt>
                <c:pt idx="5">
                  <c:v>2018.28</c:v>
                </c:pt>
                <c:pt idx="6">
                  <c:v>477.87</c:v>
                </c:pt>
              </c:numCache>
            </c:numRef>
          </c:val>
        </c:ser>
        <c:ser>
          <c:idx val="1"/>
          <c:order val="1"/>
          <c:tx>
            <c:strRef>
              <c:f>Sheet1!$C$1</c:f>
              <c:strCache>
                <c:ptCount val="1"/>
                <c:pt idx="0">
                  <c:v>AWS</c:v>
                </c:pt>
              </c:strCache>
            </c:strRef>
          </c:tx>
          <c:spPr>
            <a:solidFill>
              <a:srgbClr val="F29A3E"/>
            </a:solidFill>
          </c:spPr>
          <c:cat>
            <c:strRef>
              <c:f>Sheet1!$A$2:$A$8</c:f>
              <c:strCache>
                <c:ptCount val="7"/>
                <c:pt idx="0">
                  <c:v>Computación</c:v>
                </c:pt>
                <c:pt idx="1">
                  <c:v>Almacenamiento y Bases de Datos</c:v>
                </c:pt>
                <c:pt idx="2">
                  <c:v>Redes</c:v>
                </c:pt>
                <c:pt idx="3">
                  <c:v>Seguridad</c:v>
                </c:pt>
                <c:pt idx="4">
                  <c:v>Monitoreo y Logs</c:v>
                </c:pt>
                <c:pt idx="5">
                  <c:v>Servicios de Plataforma</c:v>
                </c:pt>
                <c:pt idx="6">
                  <c:v>Ambiente Dev/Test</c:v>
                </c:pt>
              </c:strCache>
            </c:strRef>
          </c:cat>
          <c:val>
            <c:numRef>
              <c:f>Sheet1!$C$2:$C$8</c:f>
              <c:numCache>
                <c:formatCode>General</c:formatCode>
                <c:ptCount val="7"/>
                <c:pt idx="0">
                  <c:v>1058.4</c:v>
                </c:pt>
                <c:pt idx="1">
                  <c:v>1455.33</c:v>
                </c:pt>
                <c:pt idx="2">
                  <c:v>331.01</c:v>
                </c:pt>
                <c:pt idx="3">
                  <c:v>82.94</c:v>
                </c:pt>
                <c:pt idx="4">
                  <c:v>313</c:v>
                </c:pt>
                <c:pt idx="5">
                  <c:v>1570.19</c:v>
                </c:pt>
                <c:pt idx="6">
                  <c:v>310.09</c:v>
                </c:pt>
              </c:numCache>
            </c:numRef>
          </c:val>
        </c:ser>
        <c:axId val="-2068027336"/>
        <c:axId val="-2113994440"/>
      </c:barChart>
      <c:catAx>
        <c:axId val="-2068027336"/>
        <c:scaling>
          <c:orientation val="maxMin"/>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quot;$&quot;#,##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USD / mes</c:v>
                </c:pt>
              </c:strCache>
            </c:strRef>
          </c:tx>
          <c:spPr>
            <a:solidFill>
              <a:srgbClr val="0E9F8E"/>
            </a:solidFill>
          </c:spPr>
          <c:cat>
            <c:strRef>
              <c:f>Sheet1!$A$2:$A$4</c:f>
              <c:strCache>
                <c:ptCount val="3"/>
                <c:pt idx="0">
                  <c:v>Pago por uso</c:v>
                </c:pt>
                <c:pt idx="1">
                  <c:v>Reserva 1 año</c:v>
                </c:pt>
                <c:pt idx="2">
                  <c:v>Reserva 3 años</c:v>
                </c:pt>
              </c:strCache>
            </c:strRef>
          </c:cat>
          <c:val>
            <c:numRef>
              <c:f>Sheet1!$B$2:$B$4</c:f>
              <c:numCache>
                <c:formatCode>General</c:formatCode>
                <c:ptCount val="3"/>
                <c:pt idx="0">
                  <c:v>7922.55</c:v>
                </c:pt>
                <c:pt idx="1">
                  <c:v>6669.03</c:v>
                </c:pt>
                <c:pt idx="2">
                  <c:v>6245.17</c:v>
                </c:pt>
              </c:numCache>
            </c:numRef>
          </c:val>
        </c:ser>
        <c:dLbls>
          <c:numFmt formatCode="&quot;$&quot;#,##0" sourceLinked="0"/>
          <c:txPr>
            <a:bodyPr/>
            <a:lstStyle/>
            <a:p>
              <a:pPr>
                <a:defRPr sz="14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miembros del consejo médico. Somos el equipo responsable de diseñar la arquitectura de la nueva Plataforma de Atención de Enfermería del hospital Medical Health. En los próximos minutos les presentaremos cómo funciona la solución, por qué elegimos Microsoft Azure, cuánto cuesta y cómo la implementaríamos.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agenda. Empezamos por el problema, luego la arquitectura en sus distintos niveles, la nube, la seguridad, los costos y cerramos con el plan de implementación.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hospital proyecta 250 o más enfermeras atendiendo llamadas de pacientes las 24 horas. Estimamos unas 180 mil llamadas al mes. Cada minuto cuenta: la enfermera necesita ver la historia, evaluar los síntomas y, si hace falta, remitir al paciente al centro más cercano. Además, la solución debe crecer para atender pacientes directamente en una segunda fase.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Estas son las cuatro historias de usuario. HU01, consultar la historia clínica. HU02, asistencia al diagnóstico según síntomas. HU03, centros médicos más cercanos. HU04, avisar al centro médico de la llegada del paciente. Cada una tendrá su propio microservicio, lo que nos permite escalarlas y actualizarlas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requisitos clave del enunciado: autenticación con OAuth y OpenID Connect contra el sistema central, alta disponibilidad, compatibilidad con los tres sistemas operativos, microservicios y monitoreo centralizado. Toda la arquitectura responde a estos cinco puntos.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visión general por capas. Arriba están los clientes; luego la entrada segura con Front Door, Entra ID y API Management; en el centro los cinco microservicios en Kubernetes; abajo los datos y la mensajería; a la derecha los servicios de apoyo como mapas, comunicaciones e inteligencia para el triaje; y transversalmente el monitoreo y la seguridad.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nivel del modelo C4 muestra el sistema como una caja. La enfermera y la supervisora lo usan; el paciente llama a la enfermera y en la fase 2 usará la app. El sistema se integra con el sistema de seguridad corporativo, las historias clínicas, el motor de apoyo al diagnóstico, los mapas y el servicio de comunicaciones para avisar a los centros médicos.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segundo nivel abre la caja. Tenemos la app web y la de escritorio, que llaman al API Gateway. El gateway valida el token y enruta a cinco microservicios: historia clínica, diagnóstico, centros médicos, remisión y casos. Cada uno tiene su propio almacén de datos, y la remisión se comunica por eventos para no bloquear a la enfermera si un centro tarda en responder.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el nivel de componentes mostramos el servicio más delicado: el asistente de diagnóstico. Primero se validan los síntomas, luego un motor de reglas clínicas detecta signos de alarma. En paralelo, los datos se anonimizan y se consulta al motor de apoyo. El agregador combina ambos resultados. Es importante: el sistema sugiere, pero la decisión clínica siempre es de la enfermera.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los otros tres servicios. Historia clínica consulta FHIR, resume y audita cada acceso. Centros médicos geocodifica la dirección, busca en PostGIS y ordena por tiempo de llegada con Azure Maps. Remisión registra, publica un evento y un procesador avisa al centro por llamada, SMS o correo, con reintentos automáticos. Los diagramas completos están en el documento.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diagrama recorre una atención completa. La enfermera inicia sesión con el sistema corporativo, recibe la llamada, consulta la historia, registra síntomas y obtiene el nivel de urgencia. Si el paciente debe ir a un centro, busca el más cercano, confirma la remisión y el sistema avisa al centro de forma automática. Si no, da indicaciones de autocuidado y cierra el caso.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diagrama de la nube. El tráfico entra por Azure Front Door con firewall de aplicaciones. La región principal, East US 2, tiene Kubernetes repartido en tres zonas y las bases de datos con alta disponibilidad. Central US mantiene réplicas y capacidad mínima; si la región principal falla, Front Door redirige el tráfico automáticamente. Las bases de datos solo son accesibles por red privada.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seguridad empieza por la identidad. La enfermera inicia sesión contra el sistema de seguridad centralizado de la compañía a través de Entra ID, con OpenID Connect y MFA. Recibe un token con su rol, que el gateway y cada servicio validan. Los datos viajan cifrados, las bases de datos no están expuestas a internet y cada acceso a una historia clínica queda auditado.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disponibilidad combinamos zonas y regiones: si falla un centro de datos, las otras zonas siguen; si falla toda la región, pasamos a Central US en menos de una hora perdiendo como máximo cinco minutos de datos. Todo se monitorea en Azure Monitor con alertas que avisan al equipo antes de que la enfermera note un problema.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Resumimos las decisiones principales. Microservicios en Kubernetes para escalar por separado. Web más Electron para cubrir los tres sistemas operativos con un solo código. OpenID Connect para integrarnos con la seguridad corporativa. FHIR porque es el estándar de salud. Eventos para que la remisión sea confiable. Activo-pasivo por equilibrio entre costo y resiliencia. Y el asistente de diagnóstico siempre con supervisión humana.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Comparamos Azure y AWS con siete criterios ponderados. AWS gana en costo de lista, y lo reconocemos. Pero Azure gana en lo que más pesa para un hospital: integración con el sistema de seguridad corporativo, servicios de salud como FHIR, inteligencia con red privada y compatibilidad con nuestras herramientas. Por eso elegimos Azure, con 4,6 puntos frente a 4,3.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costo mensual estimado en Azure, a precio de lista y sin descuentos, es de $7.923 dólares, incluyendo producción en dos regiones y un ambiente de desarrollo. En AWS sería $5.121. La mayor diferencia está en redes, por API Management, y en mensajería y logs. Todo el detalle, con fórmulas y enlaces a las páginas oficiales de precios, está en el Excel.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compromisos de uso a un año el costo baja a $6.669 mensuales, un 16% menos, y a tres años a $6.245. Sumamos medidas como logs más económicos, apagar desarrollo fuera de horario y autoescalado. En términos del hospital, esto equivale a unos $27 dólares por enfermera al 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Proponemos seis meses. Primero la base: redes, infraestructura como código y la integración con la seguridad corporativa. Luego las historias de usuario en dos bloques, con la asistencia al diagnóstico validada por médicos. Después pruebas de carga, seguridad, un simulacro de caída de región y un piloto con 25 enfermeras, antes de pasar a las 250.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Identificamos los riesgos principales y cómo los mitigamos. El más sensible es una sugerencia de diagnóstico incorrecta: por eso las reglas son validadas por médicos, todo se audita y la decisión es siempre de la enfermera.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conclusión: la arquitectura cubre las cuatro historias de usuario, es segura, está disponible todo el día, tiene un costo controlado y está preparada para la segunda fase con pacientes. Recomendamos aprobar el inicio de la fase de preparación.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Quedamos atentos a sus preguntas. Tenemos los anexos con el detalle de cada diagrama y de los costos.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91695" cy="54864"/>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188720"/>
            <a:ext cx="10058400" cy="457200"/>
          </a:xfrm>
          <a:prstGeom prst="rect">
            <a:avLst/>
          </a:prstGeom>
          <a:noFill/>
        </p:spPr>
        <p:txBody>
          <a:bodyPr wrap="square" anchor="t" lIns="45720" rIns="45720">
            <a:spAutoFit/>
          </a:bodyPr>
          <a:lstStyle/>
          <a:p>
            <a:pPr algn="l"/>
            <a:r>
              <a:rPr sz="1600" b="1">
                <a:solidFill>
                  <a:srgbClr val="8FD3F0"/>
                </a:solidFill>
                <a:latin typeface="Calibri"/>
              </a:rPr>
              <a:t>PROYECTO DE ARQUITECTURA DISTRIBUIDA</a:t>
            </a:r>
          </a:p>
        </p:txBody>
      </p:sp>
      <p:sp>
        <p:nvSpPr>
          <p:cNvPr id="5" name="TextBox 4"/>
          <p:cNvSpPr txBox="1"/>
          <p:nvPr/>
        </p:nvSpPr>
        <p:spPr>
          <a:xfrm>
            <a:off x="822960" y="1737360"/>
            <a:ext cx="10515600" cy="1463040"/>
          </a:xfrm>
          <a:prstGeom prst="rect">
            <a:avLst/>
          </a:prstGeom>
          <a:noFill/>
        </p:spPr>
        <p:txBody>
          <a:bodyPr wrap="square" anchor="t" lIns="45720" rIns="45720">
            <a:spAutoFit/>
          </a:bodyPr>
          <a:lstStyle/>
          <a:p>
            <a:pPr algn="l"/>
            <a:r>
              <a:rPr sz="4800" b="1">
                <a:solidFill>
                  <a:srgbClr val="FFFFFF"/>
                </a:solidFill>
                <a:latin typeface="Calibri"/>
              </a:rPr>
              <a:t>Plataforma de Atención de Enfermería</a:t>
            </a:r>
          </a:p>
        </p:txBody>
      </p:sp>
      <p:sp>
        <p:nvSpPr>
          <p:cNvPr id="6" name="TextBox 5"/>
          <p:cNvSpPr txBox="1"/>
          <p:nvPr/>
        </p:nvSpPr>
        <p:spPr>
          <a:xfrm>
            <a:off x="822960" y="2926080"/>
            <a:ext cx="10058400" cy="731520"/>
          </a:xfrm>
          <a:prstGeom prst="rect">
            <a:avLst/>
          </a:prstGeom>
          <a:noFill/>
        </p:spPr>
        <p:txBody>
          <a:bodyPr wrap="square" anchor="t" lIns="45720" rIns="45720">
            <a:spAutoFit/>
          </a:bodyPr>
          <a:lstStyle/>
          <a:p>
            <a:pPr algn="l"/>
            <a:r>
              <a:rPr sz="3000" b="0">
                <a:solidFill>
                  <a:srgbClr val="FFFFFF"/>
                </a:solidFill>
                <a:latin typeface="Calibri"/>
              </a:rPr>
              <a:t>Hospital Medical Health</a:t>
            </a:r>
          </a:p>
        </p:txBody>
      </p:sp>
      <p:sp>
        <p:nvSpPr>
          <p:cNvPr id="7" name="TextBox 6"/>
          <p:cNvSpPr txBox="1"/>
          <p:nvPr/>
        </p:nvSpPr>
        <p:spPr>
          <a:xfrm>
            <a:off x="822960" y="3749039"/>
            <a:ext cx="10058400" cy="548640"/>
          </a:xfrm>
          <a:prstGeom prst="rect">
            <a:avLst/>
          </a:prstGeom>
          <a:noFill/>
        </p:spPr>
        <p:txBody>
          <a:bodyPr wrap="square" anchor="t" lIns="45720" rIns="45720">
            <a:spAutoFit/>
          </a:bodyPr>
          <a:lstStyle/>
          <a:p>
            <a:pPr algn="l"/>
            <a:r>
              <a:rPr sz="1800" b="0">
                <a:solidFill>
                  <a:srgbClr val="C9DDEE"/>
                </a:solidFill>
                <a:latin typeface="Calibri"/>
              </a:rPr>
              <a:t>Modelo C4 · Arquitectura en Microsoft Azure · Costos · Plan de implementación</a:t>
            </a:r>
          </a:p>
        </p:txBody>
      </p:sp>
      <p:sp>
        <p:nvSpPr>
          <p:cNvPr id="8" name="TextBox 7"/>
          <p:cNvSpPr txBox="1"/>
          <p:nvPr/>
        </p:nvSpPr>
        <p:spPr>
          <a:xfrm>
            <a:off x="822960" y="5074920"/>
            <a:ext cx="10058400" cy="457200"/>
          </a:xfrm>
          <a:prstGeom prst="rect">
            <a:avLst/>
          </a:prstGeom>
          <a:noFill/>
        </p:spPr>
        <p:txBody>
          <a:bodyPr wrap="square" anchor="t" lIns="45720" rIns="45720">
            <a:spAutoFit/>
          </a:bodyPr>
          <a:lstStyle/>
          <a:p>
            <a:pPr algn="l"/>
            <a:r>
              <a:rPr sz="1600" b="0">
                <a:solidFill>
                  <a:srgbClr val="FFFFFF"/>
                </a:solidFill>
                <a:latin typeface="Calibri"/>
              </a:rPr>
              <a:t>Equipo: ____________________________________________</a:t>
            </a:r>
          </a:p>
        </p:txBody>
      </p:sp>
      <p:sp>
        <p:nvSpPr>
          <p:cNvPr id="9" name="TextBox 8"/>
          <p:cNvSpPr txBox="1"/>
          <p:nvPr/>
        </p:nvSpPr>
        <p:spPr>
          <a:xfrm>
            <a:off x="822960" y="5577840"/>
            <a:ext cx="10058400" cy="457200"/>
          </a:xfrm>
          <a:prstGeom prst="rect">
            <a:avLst/>
          </a:prstGeom>
          <a:noFill/>
        </p:spPr>
        <p:txBody>
          <a:bodyPr wrap="square" anchor="t" lIns="45720" rIns="45720">
            <a:spAutoFit/>
          </a:bodyPr>
          <a:lstStyle/>
          <a:p>
            <a:pPr algn="l"/>
            <a:r>
              <a:rPr sz="1400" b="0">
                <a:solidFill>
                  <a:srgbClr val="C9DDEE"/>
                </a:solidFill>
                <a:latin typeface="Calibri"/>
              </a:rPr>
              <a:t>Presentación ante el Consejo Médico · Octubre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Agenda</a:t>
            </a:r>
          </a:p>
        </p:txBody>
      </p:sp>
      <p:sp>
        <p:nvSpPr>
          <p:cNvPr id="5" name="TextBox 4"/>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6" name="TextBox 5"/>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2</a:t>
            </a:r>
          </a:p>
        </p:txBody>
      </p:sp>
      <p:sp>
        <p:nvSpPr>
          <p:cNvPr id="7" name="Oval 6"/>
          <p:cNvSpPr/>
          <p:nvPr/>
        </p:nvSpPr>
        <p:spPr>
          <a:xfrm>
            <a:off x="731520" y="1554480"/>
            <a:ext cx="731520" cy="731520"/>
          </a:xfrm>
          <a:prstGeom prst="ellipse">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731520" cy="731520"/>
          </a:xfrm>
          <a:prstGeom prst="rect">
            <a:avLst/>
          </a:prstGeom>
          <a:noFill/>
        </p:spPr>
        <p:txBody>
          <a:bodyPr wrap="square" anchor="ctr" lIns="45720" rIns="45720">
            <a:spAutoFit/>
          </a:bodyPr>
          <a:lstStyle/>
          <a:p>
            <a:pPr algn="ctr"/>
            <a:r>
              <a:rPr sz="2400" b="1">
                <a:solidFill>
                  <a:srgbClr val="FFFFFF"/>
                </a:solidFill>
                <a:latin typeface="Calibri"/>
              </a:rPr>
              <a:t>1</a:t>
            </a:r>
          </a:p>
        </p:txBody>
      </p:sp>
      <p:sp>
        <p:nvSpPr>
          <p:cNvPr id="9" name="TextBox 8"/>
          <p:cNvSpPr txBox="1"/>
          <p:nvPr/>
        </p:nvSpPr>
        <p:spPr>
          <a:xfrm>
            <a:off x="1645920" y="1554480"/>
            <a:ext cx="4480560" cy="731520"/>
          </a:xfrm>
          <a:prstGeom prst="rect">
            <a:avLst/>
          </a:prstGeom>
          <a:noFill/>
        </p:spPr>
        <p:txBody>
          <a:bodyPr wrap="square" anchor="ctr" lIns="45720" rIns="45720">
            <a:spAutoFit/>
          </a:bodyPr>
          <a:lstStyle/>
          <a:p>
            <a:pPr algn="l"/>
            <a:r>
              <a:rPr sz="2000" b="0">
                <a:solidFill>
                  <a:srgbClr val="262626"/>
                </a:solidFill>
                <a:latin typeface="Calibri"/>
              </a:rPr>
              <a:t>El reto del centro de llamadas</a:t>
            </a:r>
          </a:p>
        </p:txBody>
      </p:sp>
      <p:sp>
        <p:nvSpPr>
          <p:cNvPr id="10" name="Oval 9"/>
          <p:cNvSpPr/>
          <p:nvPr/>
        </p:nvSpPr>
        <p:spPr>
          <a:xfrm>
            <a:off x="6309359" y="1554480"/>
            <a:ext cx="731520" cy="7315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59" y="1554480"/>
            <a:ext cx="731520" cy="731520"/>
          </a:xfrm>
          <a:prstGeom prst="rect">
            <a:avLst/>
          </a:prstGeom>
          <a:noFill/>
        </p:spPr>
        <p:txBody>
          <a:bodyPr wrap="square" anchor="ctr" lIns="45720" rIns="45720">
            <a:spAutoFit/>
          </a:bodyPr>
          <a:lstStyle/>
          <a:p>
            <a:pPr algn="ctr"/>
            <a:r>
              <a:rPr sz="2400" b="1">
                <a:solidFill>
                  <a:srgbClr val="FFFFFF"/>
                </a:solidFill>
                <a:latin typeface="Calibri"/>
              </a:rPr>
              <a:t>2</a:t>
            </a:r>
          </a:p>
        </p:txBody>
      </p:sp>
      <p:sp>
        <p:nvSpPr>
          <p:cNvPr id="12" name="TextBox 11"/>
          <p:cNvSpPr txBox="1"/>
          <p:nvPr/>
        </p:nvSpPr>
        <p:spPr>
          <a:xfrm>
            <a:off x="7223759" y="1554480"/>
            <a:ext cx="4480560" cy="731520"/>
          </a:xfrm>
          <a:prstGeom prst="rect">
            <a:avLst/>
          </a:prstGeom>
          <a:noFill/>
        </p:spPr>
        <p:txBody>
          <a:bodyPr wrap="square" anchor="ctr" lIns="45720" rIns="45720">
            <a:spAutoFit/>
          </a:bodyPr>
          <a:lstStyle/>
          <a:p>
            <a:pPr algn="l"/>
            <a:r>
              <a:rPr sz="2000" b="0">
                <a:solidFill>
                  <a:srgbClr val="262626"/>
                </a:solidFill>
                <a:latin typeface="Calibri"/>
              </a:rPr>
              <a:t>Historias de usuario y requisitos</a:t>
            </a:r>
          </a:p>
        </p:txBody>
      </p:sp>
      <p:sp>
        <p:nvSpPr>
          <p:cNvPr id="13" name="Oval 12"/>
          <p:cNvSpPr/>
          <p:nvPr/>
        </p:nvSpPr>
        <p:spPr>
          <a:xfrm>
            <a:off x="731520" y="2697480"/>
            <a:ext cx="731520" cy="731520"/>
          </a:xfrm>
          <a:prstGeom prst="ellipse">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97480"/>
            <a:ext cx="731520" cy="731520"/>
          </a:xfrm>
          <a:prstGeom prst="rect">
            <a:avLst/>
          </a:prstGeom>
          <a:noFill/>
        </p:spPr>
        <p:txBody>
          <a:bodyPr wrap="square" anchor="ctr" lIns="45720" rIns="45720">
            <a:spAutoFit/>
          </a:bodyPr>
          <a:lstStyle/>
          <a:p>
            <a:pPr algn="ctr"/>
            <a:r>
              <a:rPr sz="2400" b="1">
                <a:solidFill>
                  <a:srgbClr val="FFFFFF"/>
                </a:solidFill>
                <a:latin typeface="Calibri"/>
              </a:rPr>
              <a:t>3</a:t>
            </a:r>
          </a:p>
        </p:txBody>
      </p:sp>
      <p:sp>
        <p:nvSpPr>
          <p:cNvPr id="15" name="TextBox 14"/>
          <p:cNvSpPr txBox="1"/>
          <p:nvPr/>
        </p:nvSpPr>
        <p:spPr>
          <a:xfrm>
            <a:off x="1645920" y="2697480"/>
            <a:ext cx="4480560" cy="731520"/>
          </a:xfrm>
          <a:prstGeom prst="rect">
            <a:avLst/>
          </a:prstGeom>
          <a:noFill/>
        </p:spPr>
        <p:txBody>
          <a:bodyPr wrap="square" anchor="ctr" lIns="45720" rIns="45720">
            <a:spAutoFit/>
          </a:bodyPr>
          <a:lstStyle/>
          <a:p>
            <a:pPr algn="l"/>
            <a:r>
              <a:rPr sz="2000" b="0">
                <a:solidFill>
                  <a:srgbClr val="262626"/>
                </a:solidFill>
                <a:latin typeface="Calibri"/>
              </a:rPr>
              <a:t>Arquitectura propuesta: modelo C4</a:t>
            </a:r>
          </a:p>
        </p:txBody>
      </p:sp>
      <p:sp>
        <p:nvSpPr>
          <p:cNvPr id="16" name="Oval 15"/>
          <p:cNvSpPr/>
          <p:nvPr/>
        </p:nvSpPr>
        <p:spPr>
          <a:xfrm>
            <a:off x="6309359" y="2697480"/>
            <a:ext cx="731520" cy="7315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2697480"/>
            <a:ext cx="731520" cy="731520"/>
          </a:xfrm>
          <a:prstGeom prst="rect">
            <a:avLst/>
          </a:prstGeom>
          <a:noFill/>
        </p:spPr>
        <p:txBody>
          <a:bodyPr wrap="square" anchor="ctr" lIns="45720" rIns="45720">
            <a:spAutoFit/>
          </a:bodyPr>
          <a:lstStyle/>
          <a:p>
            <a:pPr algn="ctr"/>
            <a:r>
              <a:rPr sz="2400" b="1">
                <a:solidFill>
                  <a:srgbClr val="FFFFFF"/>
                </a:solidFill>
                <a:latin typeface="Calibri"/>
              </a:rPr>
              <a:t>4</a:t>
            </a:r>
          </a:p>
        </p:txBody>
      </p:sp>
      <p:sp>
        <p:nvSpPr>
          <p:cNvPr id="18" name="TextBox 17"/>
          <p:cNvSpPr txBox="1"/>
          <p:nvPr/>
        </p:nvSpPr>
        <p:spPr>
          <a:xfrm>
            <a:off x="7223759" y="2697480"/>
            <a:ext cx="4480560" cy="731520"/>
          </a:xfrm>
          <a:prstGeom prst="rect">
            <a:avLst/>
          </a:prstGeom>
          <a:noFill/>
        </p:spPr>
        <p:txBody>
          <a:bodyPr wrap="square" anchor="ctr" lIns="45720" rIns="45720">
            <a:spAutoFit/>
          </a:bodyPr>
          <a:lstStyle/>
          <a:p>
            <a:pPr algn="l"/>
            <a:r>
              <a:rPr sz="2000" b="0">
                <a:solidFill>
                  <a:srgbClr val="262626"/>
                </a:solidFill>
                <a:latin typeface="Calibri"/>
              </a:rPr>
              <a:t>Arquitectura en la nube de Azure</a:t>
            </a:r>
          </a:p>
        </p:txBody>
      </p:sp>
      <p:sp>
        <p:nvSpPr>
          <p:cNvPr id="19" name="Oval 18"/>
          <p:cNvSpPr/>
          <p:nvPr/>
        </p:nvSpPr>
        <p:spPr>
          <a:xfrm>
            <a:off x="731520" y="3840480"/>
            <a:ext cx="731520" cy="731520"/>
          </a:xfrm>
          <a:prstGeom prst="ellipse">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840480"/>
            <a:ext cx="731520" cy="731520"/>
          </a:xfrm>
          <a:prstGeom prst="rect">
            <a:avLst/>
          </a:prstGeom>
          <a:noFill/>
        </p:spPr>
        <p:txBody>
          <a:bodyPr wrap="square" anchor="ctr" lIns="45720" rIns="45720">
            <a:spAutoFit/>
          </a:bodyPr>
          <a:lstStyle/>
          <a:p>
            <a:pPr algn="ctr"/>
            <a:r>
              <a:rPr sz="2400" b="1">
                <a:solidFill>
                  <a:srgbClr val="FFFFFF"/>
                </a:solidFill>
                <a:latin typeface="Calibri"/>
              </a:rPr>
              <a:t>5</a:t>
            </a:r>
          </a:p>
        </p:txBody>
      </p:sp>
      <p:sp>
        <p:nvSpPr>
          <p:cNvPr id="21" name="TextBox 20"/>
          <p:cNvSpPr txBox="1"/>
          <p:nvPr/>
        </p:nvSpPr>
        <p:spPr>
          <a:xfrm>
            <a:off x="1645920" y="3840480"/>
            <a:ext cx="4480560" cy="731520"/>
          </a:xfrm>
          <a:prstGeom prst="rect">
            <a:avLst/>
          </a:prstGeom>
          <a:noFill/>
        </p:spPr>
        <p:txBody>
          <a:bodyPr wrap="square" anchor="ctr" lIns="45720" rIns="45720">
            <a:spAutoFit/>
          </a:bodyPr>
          <a:lstStyle/>
          <a:p>
            <a:pPr algn="l"/>
            <a:r>
              <a:rPr sz="2000" b="0">
                <a:solidFill>
                  <a:srgbClr val="262626"/>
                </a:solidFill>
                <a:latin typeface="Calibri"/>
              </a:rPr>
              <a:t>Seguridad, disponibilidad y monitoreo</a:t>
            </a:r>
          </a:p>
        </p:txBody>
      </p:sp>
      <p:sp>
        <p:nvSpPr>
          <p:cNvPr id="22" name="Oval 21"/>
          <p:cNvSpPr/>
          <p:nvPr/>
        </p:nvSpPr>
        <p:spPr>
          <a:xfrm>
            <a:off x="6309359" y="3840480"/>
            <a:ext cx="731520" cy="7315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59" y="3840480"/>
            <a:ext cx="731520" cy="731520"/>
          </a:xfrm>
          <a:prstGeom prst="rect">
            <a:avLst/>
          </a:prstGeom>
          <a:noFill/>
        </p:spPr>
        <p:txBody>
          <a:bodyPr wrap="square" anchor="ctr" lIns="45720" rIns="45720">
            <a:spAutoFit/>
          </a:bodyPr>
          <a:lstStyle/>
          <a:p>
            <a:pPr algn="ctr"/>
            <a:r>
              <a:rPr sz="2400" b="1">
                <a:solidFill>
                  <a:srgbClr val="FFFFFF"/>
                </a:solidFill>
                <a:latin typeface="Calibri"/>
              </a:rPr>
              <a:t>6</a:t>
            </a:r>
          </a:p>
        </p:txBody>
      </p:sp>
      <p:sp>
        <p:nvSpPr>
          <p:cNvPr id="24" name="TextBox 23"/>
          <p:cNvSpPr txBox="1"/>
          <p:nvPr/>
        </p:nvSpPr>
        <p:spPr>
          <a:xfrm>
            <a:off x="7223759" y="3840480"/>
            <a:ext cx="4480560" cy="731520"/>
          </a:xfrm>
          <a:prstGeom prst="rect">
            <a:avLst/>
          </a:prstGeom>
          <a:noFill/>
        </p:spPr>
        <p:txBody>
          <a:bodyPr wrap="square" anchor="ctr" lIns="45720" rIns="45720">
            <a:spAutoFit/>
          </a:bodyPr>
          <a:lstStyle/>
          <a:p>
            <a:pPr algn="l"/>
            <a:r>
              <a:rPr sz="2000" b="0">
                <a:solidFill>
                  <a:srgbClr val="262626"/>
                </a:solidFill>
                <a:latin typeface="Calibri"/>
              </a:rPr>
              <a:t>Decisiones técnicas y elección de la nube</a:t>
            </a:r>
          </a:p>
        </p:txBody>
      </p:sp>
      <p:sp>
        <p:nvSpPr>
          <p:cNvPr id="25" name="Oval 24"/>
          <p:cNvSpPr/>
          <p:nvPr/>
        </p:nvSpPr>
        <p:spPr>
          <a:xfrm>
            <a:off x="731520" y="4983480"/>
            <a:ext cx="731520" cy="731520"/>
          </a:xfrm>
          <a:prstGeom prst="ellipse">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983480"/>
            <a:ext cx="731520" cy="731520"/>
          </a:xfrm>
          <a:prstGeom prst="rect">
            <a:avLst/>
          </a:prstGeom>
          <a:noFill/>
        </p:spPr>
        <p:txBody>
          <a:bodyPr wrap="square" anchor="ctr" lIns="45720" rIns="45720">
            <a:spAutoFit/>
          </a:bodyPr>
          <a:lstStyle/>
          <a:p>
            <a:pPr algn="ctr"/>
            <a:r>
              <a:rPr sz="2400" b="1">
                <a:solidFill>
                  <a:srgbClr val="FFFFFF"/>
                </a:solidFill>
                <a:latin typeface="Calibri"/>
              </a:rPr>
              <a:t>7</a:t>
            </a:r>
          </a:p>
        </p:txBody>
      </p:sp>
      <p:sp>
        <p:nvSpPr>
          <p:cNvPr id="27" name="TextBox 26"/>
          <p:cNvSpPr txBox="1"/>
          <p:nvPr/>
        </p:nvSpPr>
        <p:spPr>
          <a:xfrm>
            <a:off x="1645920" y="4983480"/>
            <a:ext cx="4480560" cy="731520"/>
          </a:xfrm>
          <a:prstGeom prst="rect">
            <a:avLst/>
          </a:prstGeom>
          <a:noFill/>
        </p:spPr>
        <p:txBody>
          <a:bodyPr wrap="square" anchor="ctr" lIns="45720" rIns="45720">
            <a:spAutoFit/>
          </a:bodyPr>
          <a:lstStyle/>
          <a:p>
            <a:pPr algn="l"/>
            <a:r>
              <a:rPr sz="2000" b="0">
                <a:solidFill>
                  <a:srgbClr val="262626"/>
                </a:solidFill>
                <a:latin typeface="Calibri"/>
              </a:rPr>
              <a:t>Costos y optimización</a:t>
            </a:r>
          </a:p>
        </p:txBody>
      </p:sp>
      <p:sp>
        <p:nvSpPr>
          <p:cNvPr id="28" name="Oval 27"/>
          <p:cNvSpPr/>
          <p:nvPr/>
        </p:nvSpPr>
        <p:spPr>
          <a:xfrm>
            <a:off x="6309359" y="4983480"/>
            <a:ext cx="731520" cy="7315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59" y="4983480"/>
            <a:ext cx="731520" cy="731520"/>
          </a:xfrm>
          <a:prstGeom prst="rect">
            <a:avLst/>
          </a:prstGeom>
          <a:noFill/>
        </p:spPr>
        <p:txBody>
          <a:bodyPr wrap="square" anchor="ctr" lIns="45720" rIns="45720">
            <a:spAutoFit/>
          </a:bodyPr>
          <a:lstStyle/>
          <a:p>
            <a:pPr algn="ctr"/>
            <a:r>
              <a:rPr sz="2400" b="1">
                <a:solidFill>
                  <a:srgbClr val="FFFFFF"/>
                </a:solidFill>
                <a:latin typeface="Calibri"/>
              </a:rPr>
              <a:t>8</a:t>
            </a:r>
          </a:p>
        </p:txBody>
      </p:sp>
      <p:sp>
        <p:nvSpPr>
          <p:cNvPr id="30" name="TextBox 29"/>
          <p:cNvSpPr txBox="1"/>
          <p:nvPr/>
        </p:nvSpPr>
        <p:spPr>
          <a:xfrm>
            <a:off x="7223759" y="4983480"/>
            <a:ext cx="4480560" cy="731520"/>
          </a:xfrm>
          <a:prstGeom prst="rect">
            <a:avLst/>
          </a:prstGeom>
          <a:noFill/>
        </p:spPr>
        <p:txBody>
          <a:bodyPr wrap="square" anchor="ctr" lIns="45720" rIns="45720">
            <a:spAutoFit/>
          </a:bodyPr>
          <a:lstStyle/>
          <a:p>
            <a:pPr algn="l"/>
            <a:r>
              <a:rPr sz="2000" b="0">
                <a:solidFill>
                  <a:srgbClr val="262626"/>
                </a:solidFill>
                <a:latin typeface="Calibri"/>
              </a:rPr>
              <a:t>Plan de implementación, riesgos y conclusiones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El reto</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Un centro de llamadas de enfermería que debe responder rápido, con información confiable, todo el día</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3</a:t>
            </a:r>
          </a:p>
        </p:txBody>
      </p:sp>
      <p:sp>
        <p:nvSpPr>
          <p:cNvPr id="8" name="Rectangle 7"/>
          <p:cNvSpPr/>
          <p:nvPr/>
        </p:nvSpPr>
        <p:spPr>
          <a:xfrm>
            <a:off x="640080" y="1737360"/>
            <a:ext cx="2560320" cy="19202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28800"/>
            <a:ext cx="2560320" cy="914400"/>
          </a:xfrm>
          <a:prstGeom prst="rect">
            <a:avLst/>
          </a:prstGeom>
          <a:noFill/>
        </p:spPr>
        <p:txBody>
          <a:bodyPr wrap="square" anchor="t" lIns="45720" rIns="45720">
            <a:spAutoFit/>
          </a:bodyPr>
          <a:lstStyle/>
          <a:p>
            <a:pPr algn="ctr"/>
            <a:r>
              <a:rPr sz="4800" b="1">
                <a:solidFill>
                  <a:srgbClr val="1168BD"/>
                </a:solidFill>
                <a:latin typeface="Calibri"/>
              </a:rPr>
              <a:t>250+</a:t>
            </a:r>
          </a:p>
        </p:txBody>
      </p:sp>
      <p:sp>
        <p:nvSpPr>
          <p:cNvPr id="10" name="TextBox 9"/>
          <p:cNvSpPr txBox="1"/>
          <p:nvPr/>
        </p:nvSpPr>
        <p:spPr>
          <a:xfrm>
            <a:off x="640080" y="2788920"/>
            <a:ext cx="2560320" cy="822960"/>
          </a:xfrm>
          <a:prstGeom prst="rect">
            <a:avLst/>
          </a:prstGeom>
          <a:noFill/>
        </p:spPr>
        <p:txBody>
          <a:bodyPr wrap="square" anchor="t" lIns="45720" rIns="45720">
            <a:spAutoFit/>
          </a:bodyPr>
          <a:lstStyle/>
          <a:p>
            <a:pPr algn="ctr"/>
            <a:r>
              <a:rPr sz="1500" b="0">
                <a:solidFill>
                  <a:srgbClr val="262626"/>
                </a:solidFill>
                <a:latin typeface="Calibri"/>
              </a:rPr>
              <a:t>enfermeras atendiendo</a:t>
            </a:r>
          </a:p>
          <a:p>
            <a:pPr algn="ctr"/>
            <a:r>
              <a:rPr sz="1500" b="0">
                <a:solidFill>
                  <a:srgbClr val="262626"/>
                </a:solidFill>
                <a:latin typeface="Calibri"/>
              </a:rPr>
              <a:t>llamadas</a:t>
            </a:r>
          </a:p>
        </p:txBody>
      </p:sp>
      <p:sp>
        <p:nvSpPr>
          <p:cNvPr id="11" name="Rectangle 10"/>
          <p:cNvSpPr/>
          <p:nvPr/>
        </p:nvSpPr>
        <p:spPr>
          <a:xfrm>
            <a:off x="3429000" y="1737360"/>
            <a:ext cx="2560320" cy="19202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828800"/>
            <a:ext cx="2560320" cy="914400"/>
          </a:xfrm>
          <a:prstGeom prst="rect">
            <a:avLst/>
          </a:prstGeom>
          <a:noFill/>
        </p:spPr>
        <p:txBody>
          <a:bodyPr wrap="square" anchor="t" lIns="45720" rIns="45720">
            <a:spAutoFit/>
          </a:bodyPr>
          <a:lstStyle/>
          <a:p>
            <a:pPr algn="ctr"/>
            <a:r>
              <a:rPr sz="4800" b="1">
                <a:solidFill>
                  <a:srgbClr val="1168BD"/>
                </a:solidFill>
                <a:latin typeface="Calibri"/>
              </a:rPr>
              <a:t>24/7</a:t>
            </a:r>
          </a:p>
        </p:txBody>
      </p:sp>
      <p:sp>
        <p:nvSpPr>
          <p:cNvPr id="13" name="TextBox 12"/>
          <p:cNvSpPr txBox="1"/>
          <p:nvPr/>
        </p:nvSpPr>
        <p:spPr>
          <a:xfrm>
            <a:off x="3429000" y="2788920"/>
            <a:ext cx="2560320" cy="822960"/>
          </a:xfrm>
          <a:prstGeom prst="rect">
            <a:avLst/>
          </a:prstGeom>
          <a:noFill/>
        </p:spPr>
        <p:txBody>
          <a:bodyPr wrap="square" anchor="t" lIns="45720" rIns="45720">
            <a:spAutoFit/>
          </a:bodyPr>
          <a:lstStyle/>
          <a:p>
            <a:pPr algn="ctr"/>
            <a:r>
              <a:rPr sz="1500" b="0">
                <a:solidFill>
                  <a:srgbClr val="262626"/>
                </a:solidFill>
                <a:latin typeface="Calibri"/>
              </a:rPr>
              <a:t>operación sin</a:t>
            </a:r>
          </a:p>
          <a:p>
            <a:pPr algn="ctr"/>
            <a:r>
              <a:rPr sz="1500" b="0">
                <a:solidFill>
                  <a:srgbClr val="262626"/>
                </a:solidFill>
                <a:latin typeface="Calibri"/>
              </a:rPr>
              <a:t>interrupciones</a:t>
            </a:r>
          </a:p>
        </p:txBody>
      </p:sp>
      <p:sp>
        <p:nvSpPr>
          <p:cNvPr id="14" name="Rectangle 13"/>
          <p:cNvSpPr/>
          <p:nvPr/>
        </p:nvSpPr>
        <p:spPr>
          <a:xfrm>
            <a:off x="6217920" y="1737360"/>
            <a:ext cx="2560320" cy="19202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828800"/>
            <a:ext cx="2560320" cy="914400"/>
          </a:xfrm>
          <a:prstGeom prst="rect">
            <a:avLst/>
          </a:prstGeom>
          <a:noFill/>
        </p:spPr>
        <p:txBody>
          <a:bodyPr wrap="square" anchor="t" lIns="45720" rIns="45720">
            <a:spAutoFit/>
          </a:bodyPr>
          <a:lstStyle/>
          <a:p>
            <a:pPr algn="ctr"/>
            <a:r>
              <a:rPr sz="4800" b="1">
                <a:solidFill>
                  <a:srgbClr val="1168BD"/>
                </a:solidFill>
                <a:latin typeface="Calibri"/>
              </a:rPr>
              <a:t>180K</a:t>
            </a:r>
          </a:p>
        </p:txBody>
      </p:sp>
      <p:sp>
        <p:nvSpPr>
          <p:cNvPr id="16" name="TextBox 15"/>
          <p:cNvSpPr txBox="1"/>
          <p:nvPr/>
        </p:nvSpPr>
        <p:spPr>
          <a:xfrm>
            <a:off x="6217920" y="2788920"/>
            <a:ext cx="2560320" cy="822960"/>
          </a:xfrm>
          <a:prstGeom prst="rect">
            <a:avLst/>
          </a:prstGeom>
          <a:noFill/>
        </p:spPr>
        <p:txBody>
          <a:bodyPr wrap="square" anchor="t" lIns="45720" rIns="45720">
            <a:spAutoFit/>
          </a:bodyPr>
          <a:lstStyle/>
          <a:p>
            <a:pPr algn="ctr"/>
            <a:r>
              <a:rPr sz="1500" b="0">
                <a:solidFill>
                  <a:srgbClr val="262626"/>
                </a:solidFill>
                <a:latin typeface="Calibri"/>
              </a:rPr>
              <a:t>llamadas estimadas</a:t>
            </a:r>
          </a:p>
          <a:p>
            <a:pPr algn="ctr"/>
            <a:r>
              <a:rPr sz="1500" b="0">
                <a:solidFill>
                  <a:srgbClr val="262626"/>
                </a:solidFill>
                <a:latin typeface="Calibri"/>
              </a:rPr>
              <a:t>por mes</a:t>
            </a:r>
          </a:p>
        </p:txBody>
      </p:sp>
      <p:sp>
        <p:nvSpPr>
          <p:cNvPr id="17" name="Rectangle 16"/>
          <p:cNvSpPr/>
          <p:nvPr/>
        </p:nvSpPr>
        <p:spPr>
          <a:xfrm>
            <a:off x="9006839" y="1737360"/>
            <a:ext cx="2560320" cy="19202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39" y="1828800"/>
            <a:ext cx="2560320" cy="914400"/>
          </a:xfrm>
          <a:prstGeom prst="rect">
            <a:avLst/>
          </a:prstGeom>
          <a:noFill/>
        </p:spPr>
        <p:txBody>
          <a:bodyPr wrap="square" anchor="t" lIns="45720" rIns="45720">
            <a:spAutoFit/>
          </a:bodyPr>
          <a:lstStyle/>
          <a:p>
            <a:pPr algn="ctr"/>
            <a:r>
              <a:rPr sz="4800" b="1">
                <a:solidFill>
                  <a:srgbClr val="1168BD"/>
                </a:solidFill>
                <a:latin typeface="Calibri"/>
              </a:rPr>
              <a:t>4</a:t>
            </a:r>
          </a:p>
        </p:txBody>
      </p:sp>
      <p:sp>
        <p:nvSpPr>
          <p:cNvPr id="19" name="TextBox 18"/>
          <p:cNvSpPr txBox="1"/>
          <p:nvPr/>
        </p:nvSpPr>
        <p:spPr>
          <a:xfrm>
            <a:off x="9006839" y="2788920"/>
            <a:ext cx="2560320" cy="822960"/>
          </a:xfrm>
          <a:prstGeom prst="rect">
            <a:avLst/>
          </a:prstGeom>
          <a:noFill/>
        </p:spPr>
        <p:txBody>
          <a:bodyPr wrap="square" anchor="t" lIns="45720" rIns="45720">
            <a:spAutoFit/>
          </a:bodyPr>
          <a:lstStyle/>
          <a:p>
            <a:pPr algn="ctr"/>
            <a:r>
              <a:rPr sz="1500" b="0">
                <a:solidFill>
                  <a:srgbClr val="262626"/>
                </a:solidFill>
                <a:latin typeface="Calibri"/>
              </a:rPr>
              <a:t>historias de usuario</a:t>
            </a:r>
          </a:p>
          <a:p>
            <a:pPr algn="ctr"/>
            <a:r>
              <a:rPr sz="1500" b="0">
                <a:solidFill>
                  <a:srgbClr val="262626"/>
                </a:solidFill>
                <a:latin typeface="Calibri"/>
              </a:rPr>
              <a:t>prioritarias</a:t>
            </a:r>
          </a:p>
        </p:txBody>
      </p:sp>
      <p:sp>
        <p:nvSpPr>
          <p:cNvPr id="20" name="TextBox 19"/>
          <p:cNvSpPr txBox="1"/>
          <p:nvPr/>
        </p:nvSpPr>
        <p:spPr>
          <a:xfrm>
            <a:off x="731520" y="4023360"/>
            <a:ext cx="10789920" cy="2194560"/>
          </a:xfrm>
          <a:prstGeom prst="rect">
            <a:avLst/>
          </a:prstGeom>
          <a:noFill/>
        </p:spPr>
        <p:txBody>
          <a:bodyPr wrap="square">
            <a:spAutoFit/>
          </a:bodyPr>
          <a:lstStyle/>
          <a:p>
            <a:pPr>
              <a:spcAft>
                <a:spcPts val="800"/>
              </a:spcAft>
            </a:pPr>
            <a:r>
              <a:rPr b="1" sz="1700">
                <a:solidFill>
                  <a:srgbClr val="0B3C5D"/>
                </a:solidFill>
                <a:latin typeface="Calibri"/>
              </a:rPr>
              <a:t>▸ Hoy: </a:t>
            </a:r>
            <a:r>
              <a:rPr sz="1700">
                <a:solidFill>
                  <a:srgbClr val="262626"/>
                </a:solidFill>
                <a:latin typeface="Calibri"/>
              </a:rPr>
              <a:t>la enfermera necesita varias herramientas para consultar la historia, decidir la urgencia y buscar un centro médico.</a:t>
            </a:r>
          </a:p>
          <a:p>
            <a:pPr>
              <a:spcAft>
                <a:spcPts val="800"/>
              </a:spcAft>
            </a:pPr>
            <a:r>
              <a:rPr b="1" sz="1700">
                <a:solidFill>
                  <a:srgbClr val="0B3C5D"/>
                </a:solidFill>
                <a:latin typeface="Calibri"/>
              </a:rPr>
              <a:t>▸ Necesidad: </a:t>
            </a:r>
            <a:r>
              <a:rPr sz="1700">
                <a:solidFill>
                  <a:srgbClr val="262626"/>
                </a:solidFill>
                <a:latin typeface="Calibri"/>
              </a:rPr>
              <a:t>una sola aplicación segura, conectada al sistema de seguridad de la compañía y disponible en Windows, Linux y macOS.</a:t>
            </a:r>
          </a:p>
          <a:p>
            <a:pPr>
              <a:spcAft>
                <a:spcPts val="800"/>
              </a:spcAft>
            </a:pPr>
            <a:r>
              <a:rPr b="1" sz="1700">
                <a:solidFill>
                  <a:srgbClr val="0B3C5D"/>
                </a:solidFill>
                <a:latin typeface="Calibri"/>
              </a:rPr>
              <a:t>▸ Futuro: </a:t>
            </a:r>
            <a:r>
              <a:rPr sz="1700">
                <a:solidFill>
                  <a:srgbClr val="262626"/>
                </a:solidFill>
                <a:latin typeface="Calibri"/>
              </a:rPr>
              <a:t>abrir un canal para que los pacientes usen la aplicación directamente.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Historias de usuario</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Cada historia se implementa como un microservicio independiente</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4</a:t>
            </a:r>
          </a:p>
        </p:txBody>
      </p:sp>
      <p:sp>
        <p:nvSpPr>
          <p:cNvPr id="8" name="Rectangle 7"/>
          <p:cNvSpPr/>
          <p:nvPr/>
        </p:nvSpPr>
        <p:spPr>
          <a:xfrm>
            <a:off x="548640" y="1508760"/>
            <a:ext cx="5440680" cy="22860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508760"/>
            <a:ext cx="109728" cy="2286000"/>
          </a:xfrm>
          <a:prstGeom prst="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00200"/>
            <a:ext cx="5029200" cy="411480"/>
          </a:xfrm>
          <a:prstGeom prst="rect">
            <a:avLst/>
          </a:prstGeom>
          <a:noFill/>
        </p:spPr>
        <p:txBody>
          <a:bodyPr wrap="square" anchor="t" lIns="45720" rIns="45720">
            <a:spAutoFit/>
          </a:bodyPr>
          <a:lstStyle/>
          <a:p>
            <a:pPr algn="l"/>
            <a:r>
              <a:rPr sz="1800" b="1">
                <a:solidFill>
                  <a:srgbClr val="1168BD"/>
                </a:solidFill>
                <a:latin typeface="Calibri"/>
              </a:rPr>
              <a:t>HU01</a:t>
            </a:r>
          </a:p>
        </p:txBody>
      </p:sp>
      <p:sp>
        <p:nvSpPr>
          <p:cNvPr id="11" name="TextBox 10"/>
          <p:cNvSpPr txBox="1"/>
          <p:nvPr/>
        </p:nvSpPr>
        <p:spPr>
          <a:xfrm>
            <a:off x="822960" y="1965960"/>
            <a:ext cx="5029200" cy="1005840"/>
          </a:xfrm>
          <a:prstGeom prst="rect">
            <a:avLst/>
          </a:prstGeom>
          <a:noFill/>
        </p:spPr>
        <p:txBody>
          <a:bodyPr wrap="square" anchor="t" lIns="45720" rIns="45720">
            <a:spAutoFit/>
          </a:bodyPr>
          <a:lstStyle/>
          <a:p>
            <a:pPr algn="l"/>
            <a:r>
              <a:rPr sz="1400" b="0">
                <a:solidFill>
                  <a:srgbClr val="262626"/>
                </a:solidFill>
                <a:latin typeface="Calibri"/>
              </a:rPr>
              <a:t>Como enfermera, quiero acceder a la historia clínica de un paciente para conocer su historial médico.</a:t>
            </a:r>
          </a:p>
        </p:txBody>
      </p:sp>
      <p:sp>
        <p:nvSpPr>
          <p:cNvPr id="12" name="TextBox 11"/>
          <p:cNvSpPr txBox="1"/>
          <p:nvPr/>
        </p:nvSpPr>
        <p:spPr>
          <a:xfrm>
            <a:off x="822960" y="3017520"/>
            <a:ext cx="5029200" cy="731520"/>
          </a:xfrm>
          <a:prstGeom prst="rect">
            <a:avLst/>
          </a:prstGeom>
          <a:noFill/>
        </p:spPr>
        <p:txBody>
          <a:bodyPr wrap="square" anchor="t" lIns="45720" rIns="45720">
            <a:spAutoFit/>
          </a:bodyPr>
          <a:lstStyle/>
          <a:p>
            <a:pPr algn="l"/>
            <a:r>
              <a:rPr sz="1200" b="1">
                <a:solidFill>
                  <a:srgbClr val="0B3C5D"/>
                </a:solidFill>
                <a:latin typeface="Calibri"/>
              </a:rPr>
              <a:t>Solución: Servicio de Historia Clínica + Azure Health Data Services (FHIR)</a:t>
            </a:r>
          </a:p>
        </p:txBody>
      </p:sp>
      <p:sp>
        <p:nvSpPr>
          <p:cNvPr id="13" name="Rectangle 12"/>
          <p:cNvSpPr/>
          <p:nvPr/>
        </p:nvSpPr>
        <p:spPr>
          <a:xfrm>
            <a:off x="6172200" y="1508760"/>
            <a:ext cx="5440680" cy="22860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1508760"/>
            <a:ext cx="109728" cy="2286000"/>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600200"/>
            <a:ext cx="5029200" cy="411480"/>
          </a:xfrm>
          <a:prstGeom prst="rect">
            <a:avLst/>
          </a:prstGeom>
          <a:noFill/>
        </p:spPr>
        <p:txBody>
          <a:bodyPr wrap="square" anchor="t" lIns="45720" rIns="45720">
            <a:spAutoFit/>
          </a:bodyPr>
          <a:lstStyle/>
          <a:p>
            <a:pPr algn="l"/>
            <a:r>
              <a:rPr sz="1800" b="1">
                <a:solidFill>
                  <a:srgbClr val="0E9F8E"/>
                </a:solidFill>
                <a:latin typeface="Calibri"/>
              </a:rPr>
              <a:t>HU02</a:t>
            </a:r>
          </a:p>
        </p:txBody>
      </p:sp>
      <p:sp>
        <p:nvSpPr>
          <p:cNvPr id="16" name="TextBox 15"/>
          <p:cNvSpPr txBox="1"/>
          <p:nvPr/>
        </p:nvSpPr>
        <p:spPr>
          <a:xfrm>
            <a:off x="6446520" y="1965960"/>
            <a:ext cx="5029200" cy="1005840"/>
          </a:xfrm>
          <a:prstGeom prst="rect">
            <a:avLst/>
          </a:prstGeom>
          <a:noFill/>
        </p:spPr>
        <p:txBody>
          <a:bodyPr wrap="square" anchor="t" lIns="45720" rIns="45720">
            <a:spAutoFit/>
          </a:bodyPr>
          <a:lstStyle/>
          <a:p>
            <a:pPr algn="l"/>
            <a:r>
              <a:rPr sz="1400" b="0">
                <a:solidFill>
                  <a:srgbClr val="262626"/>
                </a:solidFill>
                <a:latin typeface="Calibri"/>
              </a:rPr>
              <a:t>Como enfermera, quiero que la aplicación me asista en el diagnóstico médico según los síntomas para brindar una atención más oportuna.</a:t>
            </a:r>
          </a:p>
        </p:txBody>
      </p:sp>
      <p:sp>
        <p:nvSpPr>
          <p:cNvPr id="17" name="TextBox 16"/>
          <p:cNvSpPr txBox="1"/>
          <p:nvPr/>
        </p:nvSpPr>
        <p:spPr>
          <a:xfrm>
            <a:off x="6446520" y="3017520"/>
            <a:ext cx="5029200" cy="731520"/>
          </a:xfrm>
          <a:prstGeom prst="rect">
            <a:avLst/>
          </a:prstGeom>
          <a:noFill/>
        </p:spPr>
        <p:txBody>
          <a:bodyPr wrap="square" anchor="t" lIns="45720" rIns="45720">
            <a:spAutoFit/>
          </a:bodyPr>
          <a:lstStyle/>
          <a:p>
            <a:pPr algn="l"/>
            <a:r>
              <a:rPr sz="1200" b="1">
                <a:solidFill>
                  <a:srgbClr val="0B3C5D"/>
                </a:solidFill>
                <a:latin typeface="Calibri"/>
              </a:rPr>
              <a:t>Solución: Servicio de Asistencia al Diagnóstico + reglas de triaje + Azure OpenAI</a:t>
            </a:r>
          </a:p>
        </p:txBody>
      </p:sp>
      <p:sp>
        <p:nvSpPr>
          <p:cNvPr id="18" name="Rectangle 17"/>
          <p:cNvSpPr/>
          <p:nvPr/>
        </p:nvSpPr>
        <p:spPr>
          <a:xfrm>
            <a:off x="548640" y="3977639"/>
            <a:ext cx="5440680" cy="22860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77639"/>
            <a:ext cx="109728" cy="2286000"/>
          </a:xfrm>
          <a:prstGeom prst="rect">
            <a:avLst/>
          </a:prstGeom>
          <a:solidFill>
            <a:srgbClr val="D86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069079"/>
            <a:ext cx="5029200" cy="411480"/>
          </a:xfrm>
          <a:prstGeom prst="rect">
            <a:avLst/>
          </a:prstGeom>
          <a:noFill/>
        </p:spPr>
        <p:txBody>
          <a:bodyPr wrap="square" anchor="t" lIns="45720" rIns="45720">
            <a:spAutoFit/>
          </a:bodyPr>
          <a:lstStyle/>
          <a:p>
            <a:pPr algn="l"/>
            <a:r>
              <a:rPr sz="1800" b="1">
                <a:solidFill>
                  <a:srgbClr val="D86C1F"/>
                </a:solidFill>
                <a:latin typeface="Calibri"/>
              </a:rPr>
              <a:t>HU03</a:t>
            </a:r>
          </a:p>
        </p:txBody>
      </p:sp>
      <p:sp>
        <p:nvSpPr>
          <p:cNvPr id="21" name="TextBox 20"/>
          <p:cNvSpPr txBox="1"/>
          <p:nvPr/>
        </p:nvSpPr>
        <p:spPr>
          <a:xfrm>
            <a:off x="822960" y="4434839"/>
            <a:ext cx="5029200" cy="1005840"/>
          </a:xfrm>
          <a:prstGeom prst="rect">
            <a:avLst/>
          </a:prstGeom>
          <a:noFill/>
        </p:spPr>
        <p:txBody>
          <a:bodyPr wrap="square" anchor="t" lIns="45720" rIns="45720">
            <a:spAutoFit/>
          </a:bodyPr>
          <a:lstStyle/>
          <a:p>
            <a:pPr algn="l"/>
            <a:r>
              <a:rPr sz="1400" b="0">
                <a:solidFill>
                  <a:srgbClr val="262626"/>
                </a:solidFill>
                <a:latin typeface="Calibri"/>
              </a:rPr>
              <a:t>Como enfermera, quiero conocer los centros médicos más cercanos a la ubicación del paciente para remitirlo si es necesario.</a:t>
            </a:r>
          </a:p>
        </p:txBody>
      </p:sp>
      <p:sp>
        <p:nvSpPr>
          <p:cNvPr id="22" name="TextBox 21"/>
          <p:cNvSpPr txBox="1"/>
          <p:nvPr/>
        </p:nvSpPr>
        <p:spPr>
          <a:xfrm>
            <a:off x="822960" y="5486399"/>
            <a:ext cx="5029200" cy="731520"/>
          </a:xfrm>
          <a:prstGeom prst="rect">
            <a:avLst/>
          </a:prstGeom>
          <a:noFill/>
        </p:spPr>
        <p:txBody>
          <a:bodyPr wrap="square" anchor="t" lIns="45720" rIns="45720">
            <a:spAutoFit/>
          </a:bodyPr>
          <a:lstStyle/>
          <a:p>
            <a:pPr algn="l"/>
            <a:r>
              <a:rPr sz="1200" b="1">
                <a:solidFill>
                  <a:srgbClr val="0B3C5D"/>
                </a:solidFill>
                <a:latin typeface="Calibri"/>
              </a:rPr>
              <a:t>Solución: Servicio de Centros Médicos + PostgreSQL/PostGIS + Azure Maps</a:t>
            </a:r>
          </a:p>
        </p:txBody>
      </p:sp>
      <p:sp>
        <p:nvSpPr>
          <p:cNvPr id="23" name="Rectangle 22"/>
          <p:cNvSpPr/>
          <p:nvPr/>
        </p:nvSpPr>
        <p:spPr>
          <a:xfrm>
            <a:off x="6172200" y="3977639"/>
            <a:ext cx="5440680" cy="22860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3977639"/>
            <a:ext cx="109728" cy="2286000"/>
          </a:xfrm>
          <a:prstGeom prst="rect">
            <a:avLst/>
          </a:prstGeom>
          <a:solidFill>
            <a:srgbClr val="6B4F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069079"/>
            <a:ext cx="5029200" cy="411480"/>
          </a:xfrm>
          <a:prstGeom prst="rect">
            <a:avLst/>
          </a:prstGeom>
          <a:noFill/>
        </p:spPr>
        <p:txBody>
          <a:bodyPr wrap="square" anchor="t" lIns="45720" rIns="45720">
            <a:spAutoFit/>
          </a:bodyPr>
          <a:lstStyle/>
          <a:p>
            <a:pPr algn="l"/>
            <a:r>
              <a:rPr sz="1800" b="1">
                <a:solidFill>
                  <a:srgbClr val="6B4FBB"/>
                </a:solidFill>
                <a:latin typeface="Calibri"/>
              </a:rPr>
              <a:t>HU04</a:t>
            </a:r>
          </a:p>
        </p:txBody>
      </p:sp>
      <p:sp>
        <p:nvSpPr>
          <p:cNvPr id="26" name="TextBox 25"/>
          <p:cNvSpPr txBox="1"/>
          <p:nvPr/>
        </p:nvSpPr>
        <p:spPr>
          <a:xfrm>
            <a:off x="6446520" y="4434839"/>
            <a:ext cx="5029200" cy="1005840"/>
          </a:xfrm>
          <a:prstGeom prst="rect">
            <a:avLst/>
          </a:prstGeom>
          <a:noFill/>
        </p:spPr>
        <p:txBody>
          <a:bodyPr wrap="square" anchor="t" lIns="45720" rIns="45720">
            <a:spAutoFit/>
          </a:bodyPr>
          <a:lstStyle/>
          <a:p>
            <a:pPr algn="l"/>
            <a:r>
              <a:rPr sz="1400" b="0">
                <a:solidFill>
                  <a:srgbClr val="262626"/>
                </a:solidFill>
                <a:latin typeface="Calibri"/>
              </a:rPr>
              <a:t>Como enfermera, quiero contactar al centro médico para informar de la llegada del paciente y ofrecerle una atención oportuna.</a:t>
            </a:r>
          </a:p>
        </p:txBody>
      </p:sp>
      <p:sp>
        <p:nvSpPr>
          <p:cNvPr id="27" name="TextBox 26"/>
          <p:cNvSpPr txBox="1"/>
          <p:nvPr/>
        </p:nvSpPr>
        <p:spPr>
          <a:xfrm>
            <a:off x="6446520" y="5486399"/>
            <a:ext cx="5029200" cy="731520"/>
          </a:xfrm>
          <a:prstGeom prst="rect">
            <a:avLst/>
          </a:prstGeom>
          <a:noFill/>
        </p:spPr>
        <p:txBody>
          <a:bodyPr wrap="square" anchor="t" lIns="45720" rIns="45720">
            <a:spAutoFit/>
          </a:bodyPr>
          <a:lstStyle/>
          <a:p>
            <a:pPr algn="l"/>
            <a:r>
              <a:rPr sz="1200" b="1">
                <a:solidFill>
                  <a:srgbClr val="0B3C5D"/>
                </a:solidFill>
                <a:latin typeface="Calibri"/>
              </a:rPr>
              <a:t>Solución: Servicio de Remisión y Notificación + Service Bus + Azure Communication Services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Requisitos clave</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Lo que la arquitectura debe garantizar</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5</a:t>
            </a:r>
          </a:p>
        </p:txBody>
      </p:sp>
      <p:sp>
        <p:nvSpPr>
          <p:cNvPr id="8" name="Rectangle 7"/>
          <p:cNvSpPr/>
          <p:nvPr/>
        </p:nvSpPr>
        <p:spPr>
          <a:xfrm>
            <a:off x="548640" y="1645920"/>
            <a:ext cx="2103120" cy="265176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45920"/>
            <a:ext cx="2103120" cy="73152"/>
          </a:xfrm>
          <a:prstGeom prst="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10512"/>
            <a:ext cx="1828800" cy="457200"/>
          </a:xfrm>
          <a:prstGeom prst="rect">
            <a:avLst/>
          </a:prstGeom>
          <a:noFill/>
        </p:spPr>
        <p:txBody>
          <a:bodyPr wrap="square" anchor="t" lIns="45720" rIns="45720">
            <a:spAutoFit/>
          </a:bodyPr>
          <a:lstStyle/>
          <a:p>
            <a:pPr algn="l"/>
            <a:r>
              <a:rPr sz="1700" b="1">
                <a:solidFill>
                  <a:srgbClr val="0B3C5D"/>
                </a:solidFill>
                <a:latin typeface="Calibri"/>
              </a:rPr>
              <a:t>Seguridad</a:t>
            </a:r>
          </a:p>
        </p:txBody>
      </p:sp>
      <p:sp>
        <p:nvSpPr>
          <p:cNvPr id="11" name="TextBox 10"/>
          <p:cNvSpPr txBox="1"/>
          <p:nvPr/>
        </p:nvSpPr>
        <p:spPr>
          <a:xfrm>
            <a:off x="685800" y="2286000"/>
            <a:ext cx="1828800" cy="1920240"/>
          </a:xfrm>
          <a:prstGeom prst="rect">
            <a:avLst/>
          </a:prstGeom>
          <a:noFill/>
        </p:spPr>
        <p:txBody>
          <a:bodyPr wrap="square" anchor="t" lIns="45720" rIns="45720">
            <a:spAutoFit/>
          </a:bodyPr>
          <a:lstStyle/>
          <a:p>
            <a:pPr algn="l"/>
            <a:r>
              <a:rPr sz="1500" b="0">
                <a:solidFill>
                  <a:srgbClr val="262626"/>
                </a:solidFill>
                <a:latin typeface="Calibri"/>
              </a:rPr>
              <a:t>OAuth 2.0 / OpenID Connect contra el sistema de seguridad centralizado. Todo cifrado con HTTPS/TLS.</a:t>
            </a:r>
          </a:p>
        </p:txBody>
      </p:sp>
      <p:sp>
        <p:nvSpPr>
          <p:cNvPr id="12" name="Rectangle 11"/>
          <p:cNvSpPr/>
          <p:nvPr/>
        </p:nvSpPr>
        <p:spPr>
          <a:xfrm>
            <a:off x="2788920" y="1645920"/>
            <a:ext cx="2103120" cy="265176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88920" y="1645920"/>
            <a:ext cx="2103120" cy="73152"/>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810512"/>
            <a:ext cx="1828800" cy="457200"/>
          </a:xfrm>
          <a:prstGeom prst="rect">
            <a:avLst/>
          </a:prstGeom>
          <a:noFill/>
        </p:spPr>
        <p:txBody>
          <a:bodyPr wrap="square" anchor="t" lIns="45720" rIns="45720">
            <a:spAutoFit/>
          </a:bodyPr>
          <a:lstStyle/>
          <a:p>
            <a:pPr algn="l"/>
            <a:r>
              <a:rPr sz="1700" b="1">
                <a:solidFill>
                  <a:srgbClr val="0B3C5D"/>
                </a:solidFill>
                <a:latin typeface="Calibri"/>
              </a:rPr>
              <a:t>Alta disponibilidad</a:t>
            </a:r>
          </a:p>
        </p:txBody>
      </p:sp>
      <p:sp>
        <p:nvSpPr>
          <p:cNvPr id="15" name="TextBox 14"/>
          <p:cNvSpPr txBox="1"/>
          <p:nvPr/>
        </p:nvSpPr>
        <p:spPr>
          <a:xfrm>
            <a:off x="2926080" y="2286000"/>
            <a:ext cx="1828800" cy="1920240"/>
          </a:xfrm>
          <a:prstGeom prst="rect">
            <a:avLst/>
          </a:prstGeom>
          <a:noFill/>
        </p:spPr>
        <p:txBody>
          <a:bodyPr wrap="square" anchor="t" lIns="45720" rIns="45720">
            <a:spAutoFit/>
          </a:bodyPr>
          <a:lstStyle/>
          <a:p>
            <a:pPr algn="l"/>
            <a:r>
              <a:rPr sz="1500" b="0">
                <a:solidFill>
                  <a:srgbClr val="262626"/>
                </a:solidFill>
                <a:latin typeface="Calibri"/>
              </a:rPr>
              <a:t>Balanceo de carga, failover y despliegue en varias zonas y regiones. Meta: 99,95%.</a:t>
            </a:r>
          </a:p>
        </p:txBody>
      </p:sp>
      <p:sp>
        <p:nvSpPr>
          <p:cNvPr id="16" name="Rectangle 15"/>
          <p:cNvSpPr/>
          <p:nvPr/>
        </p:nvSpPr>
        <p:spPr>
          <a:xfrm>
            <a:off x="5029200" y="1645920"/>
            <a:ext cx="2103120" cy="265176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0" y="1645920"/>
            <a:ext cx="2103120" cy="73152"/>
          </a:xfrm>
          <a:prstGeom prst="rect">
            <a:avLst/>
          </a:prstGeom>
          <a:solidFill>
            <a:srgbClr val="D86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1810512"/>
            <a:ext cx="1828800" cy="457200"/>
          </a:xfrm>
          <a:prstGeom prst="rect">
            <a:avLst/>
          </a:prstGeom>
          <a:noFill/>
        </p:spPr>
        <p:txBody>
          <a:bodyPr wrap="square" anchor="t" lIns="45720" rIns="45720">
            <a:spAutoFit/>
          </a:bodyPr>
          <a:lstStyle/>
          <a:p>
            <a:pPr algn="l"/>
            <a:r>
              <a:rPr sz="1700" b="1">
                <a:solidFill>
                  <a:srgbClr val="0B3C5D"/>
                </a:solidFill>
                <a:latin typeface="Calibri"/>
              </a:rPr>
              <a:t>Multiplataforma</a:t>
            </a:r>
          </a:p>
        </p:txBody>
      </p:sp>
      <p:sp>
        <p:nvSpPr>
          <p:cNvPr id="19" name="TextBox 18"/>
          <p:cNvSpPr txBox="1"/>
          <p:nvPr/>
        </p:nvSpPr>
        <p:spPr>
          <a:xfrm>
            <a:off x="5166360" y="2286000"/>
            <a:ext cx="1828800" cy="1920240"/>
          </a:xfrm>
          <a:prstGeom prst="rect">
            <a:avLst/>
          </a:prstGeom>
          <a:noFill/>
        </p:spPr>
        <p:txBody>
          <a:bodyPr wrap="square" anchor="t" lIns="45720" rIns="45720">
            <a:spAutoFit/>
          </a:bodyPr>
          <a:lstStyle/>
          <a:p>
            <a:pPr algn="l"/>
            <a:r>
              <a:rPr sz="1500" b="0">
                <a:solidFill>
                  <a:srgbClr val="262626"/>
                </a:solidFill>
                <a:latin typeface="Calibri"/>
              </a:rPr>
              <a:t>Aplicación web responsiva y app de escritorio Electron para Windows, Linux y macOS.</a:t>
            </a:r>
          </a:p>
        </p:txBody>
      </p:sp>
      <p:sp>
        <p:nvSpPr>
          <p:cNvPr id="20" name="Rectangle 19"/>
          <p:cNvSpPr/>
          <p:nvPr/>
        </p:nvSpPr>
        <p:spPr>
          <a:xfrm>
            <a:off x="7269480" y="1645920"/>
            <a:ext cx="2103120" cy="265176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1645920"/>
            <a:ext cx="2103120" cy="73152"/>
          </a:xfrm>
          <a:prstGeom prst="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810512"/>
            <a:ext cx="1828800" cy="457200"/>
          </a:xfrm>
          <a:prstGeom prst="rect">
            <a:avLst/>
          </a:prstGeom>
          <a:noFill/>
        </p:spPr>
        <p:txBody>
          <a:bodyPr wrap="square" anchor="t" lIns="45720" rIns="45720">
            <a:spAutoFit/>
          </a:bodyPr>
          <a:lstStyle/>
          <a:p>
            <a:pPr algn="l"/>
            <a:r>
              <a:rPr sz="1700" b="1">
                <a:solidFill>
                  <a:srgbClr val="0B3C5D"/>
                </a:solidFill>
                <a:latin typeface="Calibri"/>
              </a:rPr>
              <a:t>Microservicios</a:t>
            </a:r>
          </a:p>
        </p:txBody>
      </p:sp>
      <p:sp>
        <p:nvSpPr>
          <p:cNvPr id="23" name="TextBox 22"/>
          <p:cNvSpPr txBox="1"/>
          <p:nvPr/>
        </p:nvSpPr>
        <p:spPr>
          <a:xfrm>
            <a:off x="7406640" y="2286000"/>
            <a:ext cx="1828800" cy="1920240"/>
          </a:xfrm>
          <a:prstGeom prst="rect">
            <a:avLst/>
          </a:prstGeom>
          <a:noFill/>
        </p:spPr>
        <p:txBody>
          <a:bodyPr wrap="square" anchor="t" lIns="45720" rIns="45720">
            <a:spAutoFit/>
          </a:bodyPr>
          <a:lstStyle/>
          <a:p>
            <a:pPr algn="l"/>
            <a:r>
              <a:rPr sz="1500" b="0">
                <a:solidFill>
                  <a:srgbClr val="262626"/>
                </a:solidFill>
                <a:latin typeface="Calibri"/>
              </a:rPr>
              <a:t>Cada funcionalidad es un servicio independiente, fácil de escalar y mantener.</a:t>
            </a:r>
          </a:p>
        </p:txBody>
      </p:sp>
      <p:sp>
        <p:nvSpPr>
          <p:cNvPr id="24" name="Rectangle 23"/>
          <p:cNvSpPr/>
          <p:nvPr/>
        </p:nvSpPr>
        <p:spPr>
          <a:xfrm>
            <a:off x="9509760" y="1645920"/>
            <a:ext cx="2103120" cy="265176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1645920"/>
            <a:ext cx="2103120" cy="73152"/>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810512"/>
            <a:ext cx="1828800" cy="457200"/>
          </a:xfrm>
          <a:prstGeom prst="rect">
            <a:avLst/>
          </a:prstGeom>
          <a:noFill/>
        </p:spPr>
        <p:txBody>
          <a:bodyPr wrap="square" anchor="t" lIns="45720" rIns="45720">
            <a:spAutoFit/>
          </a:bodyPr>
          <a:lstStyle/>
          <a:p>
            <a:pPr algn="l"/>
            <a:r>
              <a:rPr sz="1700" b="1">
                <a:solidFill>
                  <a:srgbClr val="0B3C5D"/>
                </a:solidFill>
                <a:latin typeface="Calibri"/>
              </a:rPr>
              <a:t>Monitoreo</a:t>
            </a:r>
          </a:p>
        </p:txBody>
      </p:sp>
      <p:sp>
        <p:nvSpPr>
          <p:cNvPr id="27" name="TextBox 26"/>
          <p:cNvSpPr txBox="1"/>
          <p:nvPr/>
        </p:nvSpPr>
        <p:spPr>
          <a:xfrm>
            <a:off x="9646920" y="2286000"/>
            <a:ext cx="1828800" cy="1920240"/>
          </a:xfrm>
          <a:prstGeom prst="rect">
            <a:avLst/>
          </a:prstGeom>
          <a:noFill/>
        </p:spPr>
        <p:txBody>
          <a:bodyPr wrap="square" anchor="t" lIns="45720" rIns="45720">
            <a:spAutoFit/>
          </a:bodyPr>
          <a:lstStyle/>
          <a:p>
            <a:pPr algn="l"/>
            <a:r>
              <a:rPr sz="1500" b="0">
                <a:solidFill>
                  <a:srgbClr val="262626"/>
                </a:solidFill>
                <a:latin typeface="Calibri"/>
              </a:rPr>
              <a:t>Logs centralizados, métricas y alertas con Azure Monitor y Prometheus.</a:t>
            </a:r>
          </a:p>
        </p:txBody>
      </p:sp>
      <p:sp>
        <p:nvSpPr>
          <p:cNvPr id="28" name="Rectangle 27"/>
          <p:cNvSpPr/>
          <p:nvPr/>
        </p:nvSpPr>
        <p:spPr>
          <a:xfrm>
            <a:off x="548640" y="4617720"/>
            <a:ext cx="11064240" cy="1188720"/>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617720"/>
            <a:ext cx="10515600" cy="1188720"/>
          </a:xfrm>
          <a:prstGeom prst="rect">
            <a:avLst/>
          </a:prstGeom>
          <a:noFill/>
        </p:spPr>
        <p:txBody>
          <a:bodyPr wrap="square" anchor="ctr" lIns="45720" rIns="45720">
            <a:spAutoFit/>
          </a:bodyPr>
          <a:lstStyle/>
          <a:p>
            <a:pPr algn="l"/>
            <a:r>
              <a:rPr sz="1800" b="1">
                <a:solidFill>
                  <a:srgbClr val="FFFFFF"/>
                </a:solidFill>
                <a:latin typeface="Calibri"/>
              </a:rPr>
              <a:t>Todos los requisitos se cubren con servicios administrados de Azure: menos infraestructura que operar y más tiempo para la atención del paciente.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Arquitectura propuesta: visión general</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Capas de la solución en Microsoft Azure</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6</a:t>
            </a:r>
          </a:p>
        </p:txBody>
      </p:sp>
      <p:sp>
        <p:nvSpPr>
          <p:cNvPr id="8" name="Rectangle 7"/>
          <p:cNvSpPr/>
          <p:nvPr/>
        </p:nvSpPr>
        <p:spPr>
          <a:xfrm>
            <a:off x="640080" y="1508760"/>
            <a:ext cx="2743200" cy="676656"/>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08760"/>
            <a:ext cx="2743200" cy="676656"/>
          </a:xfrm>
          <a:prstGeom prst="rect">
            <a:avLst/>
          </a:prstGeom>
          <a:noFill/>
        </p:spPr>
        <p:txBody>
          <a:bodyPr wrap="square" anchor="ctr" lIns="45720" rIns="45720">
            <a:spAutoFit/>
          </a:bodyPr>
          <a:lstStyle/>
          <a:p>
            <a:pPr algn="ctr"/>
            <a:r>
              <a:rPr sz="1700" b="1">
                <a:solidFill>
                  <a:srgbClr val="FFFFFF"/>
                </a:solidFill>
                <a:latin typeface="Calibri"/>
              </a:rPr>
              <a:t>Clientes</a:t>
            </a:r>
          </a:p>
        </p:txBody>
      </p:sp>
      <p:sp>
        <p:nvSpPr>
          <p:cNvPr id="10" name="Rectangle 9"/>
          <p:cNvSpPr/>
          <p:nvPr/>
        </p:nvSpPr>
        <p:spPr>
          <a:xfrm>
            <a:off x="3474720" y="1508760"/>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508760"/>
            <a:ext cx="7863840" cy="676656"/>
          </a:xfrm>
          <a:prstGeom prst="rect">
            <a:avLst/>
          </a:prstGeom>
          <a:noFill/>
        </p:spPr>
        <p:txBody>
          <a:bodyPr wrap="square" anchor="ctr" lIns="45720" rIns="45720">
            <a:spAutoFit/>
          </a:bodyPr>
          <a:lstStyle/>
          <a:p>
            <a:pPr algn="l"/>
            <a:r>
              <a:rPr sz="1500" b="0">
                <a:solidFill>
                  <a:srgbClr val="262626"/>
                </a:solidFill>
                <a:latin typeface="Calibri"/>
              </a:rPr>
              <a:t>App web React responsiva · App de escritorio Electron · (Fase 2) App de pacientes</a:t>
            </a:r>
          </a:p>
        </p:txBody>
      </p:sp>
      <p:sp>
        <p:nvSpPr>
          <p:cNvPr id="12" name="Rectangle 11"/>
          <p:cNvSpPr/>
          <p:nvPr/>
        </p:nvSpPr>
        <p:spPr>
          <a:xfrm>
            <a:off x="640080" y="2295144"/>
            <a:ext cx="2743200" cy="676656"/>
          </a:xfrm>
          <a:prstGeom prst="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295144"/>
            <a:ext cx="2743200" cy="676656"/>
          </a:xfrm>
          <a:prstGeom prst="rect">
            <a:avLst/>
          </a:prstGeom>
          <a:noFill/>
        </p:spPr>
        <p:txBody>
          <a:bodyPr wrap="square" anchor="ctr" lIns="45720" rIns="45720">
            <a:spAutoFit/>
          </a:bodyPr>
          <a:lstStyle/>
          <a:p>
            <a:pPr algn="ctr"/>
            <a:r>
              <a:rPr sz="1700" b="1">
                <a:solidFill>
                  <a:srgbClr val="FFFFFF"/>
                </a:solidFill>
                <a:latin typeface="Calibri"/>
              </a:rPr>
              <a:t>Entrada y seguridad</a:t>
            </a:r>
          </a:p>
        </p:txBody>
      </p:sp>
      <p:sp>
        <p:nvSpPr>
          <p:cNvPr id="14" name="Rectangle 13"/>
          <p:cNvSpPr/>
          <p:nvPr/>
        </p:nvSpPr>
        <p:spPr>
          <a:xfrm>
            <a:off x="3474720" y="2295144"/>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0" y="2295144"/>
            <a:ext cx="7863840" cy="676656"/>
          </a:xfrm>
          <a:prstGeom prst="rect">
            <a:avLst/>
          </a:prstGeom>
          <a:noFill/>
        </p:spPr>
        <p:txBody>
          <a:bodyPr wrap="square" anchor="ctr" lIns="45720" rIns="45720">
            <a:spAutoFit/>
          </a:bodyPr>
          <a:lstStyle/>
          <a:p>
            <a:pPr algn="l"/>
            <a:r>
              <a:rPr sz="1500" b="0">
                <a:solidFill>
                  <a:srgbClr val="262626"/>
                </a:solidFill>
                <a:latin typeface="Calibri"/>
              </a:rPr>
              <a:t>Azure Front Door + WAF · Microsoft Entra ID (OIDC) · API Management</a:t>
            </a:r>
          </a:p>
        </p:txBody>
      </p:sp>
      <p:sp>
        <p:nvSpPr>
          <p:cNvPr id="16" name="Rectangle 15"/>
          <p:cNvSpPr/>
          <p:nvPr/>
        </p:nvSpPr>
        <p:spPr>
          <a:xfrm>
            <a:off x="640080" y="3081528"/>
            <a:ext cx="2743200" cy="676656"/>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081528"/>
            <a:ext cx="2743200" cy="676656"/>
          </a:xfrm>
          <a:prstGeom prst="rect">
            <a:avLst/>
          </a:prstGeom>
          <a:noFill/>
        </p:spPr>
        <p:txBody>
          <a:bodyPr wrap="square" anchor="ctr" lIns="45720" rIns="45720">
            <a:spAutoFit/>
          </a:bodyPr>
          <a:lstStyle/>
          <a:p>
            <a:pPr algn="ctr"/>
            <a:r>
              <a:rPr sz="1700" b="1">
                <a:solidFill>
                  <a:srgbClr val="FFFFFF"/>
                </a:solidFill>
                <a:latin typeface="Calibri"/>
              </a:rPr>
              <a:t>Microservicios (AKS)</a:t>
            </a:r>
          </a:p>
        </p:txBody>
      </p:sp>
      <p:sp>
        <p:nvSpPr>
          <p:cNvPr id="18" name="Rectangle 17"/>
          <p:cNvSpPr/>
          <p:nvPr/>
        </p:nvSpPr>
        <p:spPr>
          <a:xfrm>
            <a:off x="3474720" y="3081528"/>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3081528"/>
            <a:ext cx="7863840" cy="676656"/>
          </a:xfrm>
          <a:prstGeom prst="rect">
            <a:avLst/>
          </a:prstGeom>
          <a:noFill/>
        </p:spPr>
        <p:txBody>
          <a:bodyPr wrap="square" anchor="ctr" lIns="45720" rIns="45720">
            <a:spAutoFit/>
          </a:bodyPr>
          <a:lstStyle/>
          <a:p>
            <a:pPr algn="l"/>
            <a:r>
              <a:rPr sz="1500" b="0">
                <a:solidFill>
                  <a:srgbClr val="262626"/>
                </a:solidFill>
                <a:latin typeface="Calibri"/>
              </a:rPr>
              <a:t>Historia Clínica · Asistencia al Diagnóstico · Centros Médicos · Remisión · Llamadas y Casos</a:t>
            </a:r>
          </a:p>
        </p:txBody>
      </p:sp>
      <p:sp>
        <p:nvSpPr>
          <p:cNvPr id="20" name="Rectangle 19"/>
          <p:cNvSpPr/>
          <p:nvPr/>
        </p:nvSpPr>
        <p:spPr>
          <a:xfrm>
            <a:off x="640080" y="3867912"/>
            <a:ext cx="2743200" cy="676656"/>
          </a:xfrm>
          <a:prstGeom prst="rect">
            <a:avLst/>
          </a:prstGeom>
          <a:solidFill>
            <a:srgbClr val="2B6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867912"/>
            <a:ext cx="2743200" cy="676656"/>
          </a:xfrm>
          <a:prstGeom prst="rect">
            <a:avLst/>
          </a:prstGeom>
          <a:noFill/>
        </p:spPr>
        <p:txBody>
          <a:bodyPr wrap="square" anchor="ctr" lIns="45720" rIns="45720">
            <a:spAutoFit/>
          </a:bodyPr>
          <a:lstStyle/>
          <a:p>
            <a:pPr algn="ctr"/>
            <a:r>
              <a:rPr sz="1700" b="1">
                <a:solidFill>
                  <a:srgbClr val="FFFFFF"/>
                </a:solidFill>
                <a:latin typeface="Calibri"/>
              </a:rPr>
              <a:t>Datos y mensajería</a:t>
            </a:r>
          </a:p>
        </p:txBody>
      </p:sp>
      <p:sp>
        <p:nvSpPr>
          <p:cNvPr id="22" name="Rectangle 21"/>
          <p:cNvSpPr/>
          <p:nvPr/>
        </p:nvSpPr>
        <p:spPr>
          <a:xfrm>
            <a:off x="3474720" y="3867912"/>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0" y="3867912"/>
            <a:ext cx="7863840" cy="676656"/>
          </a:xfrm>
          <a:prstGeom prst="rect">
            <a:avLst/>
          </a:prstGeom>
          <a:noFill/>
        </p:spPr>
        <p:txBody>
          <a:bodyPr wrap="square" anchor="ctr" lIns="45720" rIns="45720">
            <a:spAutoFit/>
          </a:bodyPr>
          <a:lstStyle/>
          <a:p>
            <a:pPr algn="l"/>
            <a:r>
              <a:rPr sz="1500" b="0">
                <a:solidFill>
                  <a:srgbClr val="262626"/>
                </a:solidFill>
                <a:latin typeface="Calibri"/>
              </a:rPr>
              <a:t>PostgreSQL · Health Data Services (FHIR) · Redis · Blob Storage · Service Bus</a:t>
            </a:r>
          </a:p>
        </p:txBody>
      </p:sp>
      <p:sp>
        <p:nvSpPr>
          <p:cNvPr id="24" name="Rectangle 23"/>
          <p:cNvSpPr/>
          <p:nvPr/>
        </p:nvSpPr>
        <p:spPr>
          <a:xfrm>
            <a:off x="640080" y="4654296"/>
            <a:ext cx="2743200" cy="676656"/>
          </a:xfrm>
          <a:prstGeom prst="rect">
            <a:avLst/>
          </a:prstGeom>
          <a:solidFill>
            <a:srgbClr val="D86C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654296"/>
            <a:ext cx="2743200" cy="676656"/>
          </a:xfrm>
          <a:prstGeom prst="rect">
            <a:avLst/>
          </a:prstGeom>
          <a:noFill/>
        </p:spPr>
        <p:txBody>
          <a:bodyPr wrap="square" anchor="ctr" lIns="45720" rIns="45720">
            <a:spAutoFit/>
          </a:bodyPr>
          <a:lstStyle/>
          <a:p>
            <a:pPr algn="ctr"/>
            <a:r>
              <a:rPr sz="1700" b="1">
                <a:solidFill>
                  <a:srgbClr val="FFFFFF"/>
                </a:solidFill>
                <a:latin typeface="Calibri"/>
              </a:rPr>
              <a:t>Servicios de apoyo</a:t>
            </a:r>
          </a:p>
        </p:txBody>
      </p:sp>
      <p:sp>
        <p:nvSpPr>
          <p:cNvPr id="26" name="Rectangle 25"/>
          <p:cNvSpPr/>
          <p:nvPr/>
        </p:nvSpPr>
        <p:spPr>
          <a:xfrm>
            <a:off x="3474720" y="4654296"/>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4654296"/>
            <a:ext cx="7863840" cy="676656"/>
          </a:xfrm>
          <a:prstGeom prst="rect">
            <a:avLst/>
          </a:prstGeom>
          <a:noFill/>
        </p:spPr>
        <p:txBody>
          <a:bodyPr wrap="square" anchor="ctr" lIns="45720" rIns="45720">
            <a:spAutoFit/>
          </a:bodyPr>
          <a:lstStyle/>
          <a:p>
            <a:pPr algn="l"/>
            <a:r>
              <a:rPr sz="1500" b="0">
                <a:solidFill>
                  <a:srgbClr val="262626"/>
                </a:solidFill>
                <a:latin typeface="Calibri"/>
              </a:rPr>
              <a:t>Azure OpenAI · Azure Maps · Communication Services · Key Vault</a:t>
            </a:r>
          </a:p>
        </p:txBody>
      </p:sp>
      <p:sp>
        <p:nvSpPr>
          <p:cNvPr id="28" name="Rectangle 27"/>
          <p:cNvSpPr/>
          <p:nvPr/>
        </p:nvSpPr>
        <p:spPr>
          <a:xfrm>
            <a:off x="640080" y="5440679"/>
            <a:ext cx="2743200" cy="676656"/>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40679"/>
            <a:ext cx="2743200" cy="676656"/>
          </a:xfrm>
          <a:prstGeom prst="rect">
            <a:avLst/>
          </a:prstGeom>
          <a:noFill/>
        </p:spPr>
        <p:txBody>
          <a:bodyPr wrap="square" anchor="ctr" lIns="45720" rIns="45720">
            <a:spAutoFit/>
          </a:bodyPr>
          <a:lstStyle/>
          <a:p>
            <a:pPr algn="ctr"/>
            <a:r>
              <a:rPr sz="1700" b="1">
                <a:solidFill>
                  <a:srgbClr val="FFFFFF"/>
                </a:solidFill>
                <a:latin typeface="Calibri"/>
              </a:rPr>
              <a:t>Operación</a:t>
            </a:r>
          </a:p>
        </p:txBody>
      </p:sp>
      <p:sp>
        <p:nvSpPr>
          <p:cNvPr id="30" name="Rectangle 29"/>
          <p:cNvSpPr/>
          <p:nvPr/>
        </p:nvSpPr>
        <p:spPr>
          <a:xfrm>
            <a:off x="3474720" y="5440679"/>
            <a:ext cx="8092440" cy="676656"/>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5440679"/>
            <a:ext cx="7863840" cy="676656"/>
          </a:xfrm>
          <a:prstGeom prst="rect">
            <a:avLst/>
          </a:prstGeom>
          <a:noFill/>
        </p:spPr>
        <p:txBody>
          <a:bodyPr wrap="square" anchor="ctr" lIns="45720" rIns="45720">
            <a:spAutoFit/>
          </a:bodyPr>
          <a:lstStyle/>
          <a:p>
            <a:pPr algn="l"/>
            <a:r>
              <a:rPr sz="1500" b="0">
                <a:solidFill>
                  <a:srgbClr val="262626"/>
                </a:solidFill>
                <a:latin typeface="Calibri"/>
              </a:rPr>
              <a:t>Azure Monitor · Log Analytics · Prometheus + Grafana · Defender for Cloud · GitHub Actions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C4 · Nivel 1: Diagrama de contexto</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El sistema, sus usuarios y los sistemas externos</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7</a:t>
            </a:r>
          </a:p>
        </p:txBody>
      </p:sp>
      <p:pic>
        <p:nvPicPr>
          <p:cNvPr id="8" name="Picture 7" descr="01-contexto.png"/>
          <p:cNvPicPr>
            <a:picLocks noChangeAspect="1"/>
          </p:cNvPicPr>
          <p:nvPr/>
        </p:nvPicPr>
        <p:blipFill>
          <a:blip r:embed="rId2"/>
          <a:stretch>
            <a:fillRect/>
          </a:stretch>
        </p:blipFill>
        <p:spPr>
          <a:xfrm>
            <a:off x="1193040" y="1371600"/>
            <a:ext cx="6209280" cy="5029200"/>
          </a:xfrm>
          <a:prstGeom prst="rect">
            <a:avLst/>
          </a:prstGeom>
        </p:spPr>
      </p:pic>
      <p:sp>
        <p:nvSpPr>
          <p:cNvPr id="9" name="TextBox 8"/>
          <p:cNvSpPr txBox="1"/>
          <p:nvPr/>
        </p:nvSpPr>
        <p:spPr>
          <a:xfrm>
            <a:off x="8412480" y="1737360"/>
            <a:ext cx="3474720" cy="4572000"/>
          </a:xfrm>
          <a:prstGeom prst="rect">
            <a:avLst/>
          </a:prstGeom>
          <a:noFill/>
        </p:spPr>
        <p:txBody>
          <a:bodyPr wrap="square">
            <a:spAutoFit/>
          </a:bodyPr>
          <a:lstStyle/>
          <a:p>
            <a:pPr>
              <a:spcAft>
                <a:spcPts val="800"/>
              </a:spcAft>
            </a:pPr>
            <a:r>
              <a:rPr sz="1500">
                <a:solidFill>
                  <a:srgbClr val="262626"/>
                </a:solidFill>
                <a:latin typeface="Calibri"/>
              </a:rPr>
              <a:t>▸ 3 tipos de personas: paciente, enfermera y supervisora.</a:t>
            </a:r>
          </a:p>
          <a:p>
            <a:pPr>
              <a:spcAft>
                <a:spcPts val="800"/>
              </a:spcAft>
            </a:pPr>
            <a:r>
              <a:rPr sz="1500">
                <a:solidFill>
                  <a:srgbClr val="262626"/>
                </a:solidFill>
                <a:latin typeface="Calibri"/>
              </a:rPr>
              <a:t>▸ 6 sistemas externos: seguridad, historias, motor de diagnóstico, mapas, comunicaciones y centros médicos.</a:t>
            </a:r>
          </a:p>
          <a:p>
            <a:pPr>
              <a:spcAft>
                <a:spcPts val="800"/>
              </a:spcAft>
            </a:pPr>
            <a:r>
              <a:rPr sz="1500">
                <a:solidFill>
                  <a:srgbClr val="262626"/>
                </a:solidFill>
                <a:latin typeface="Calibri"/>
              </a:rPr>
              <a:t>▸ Toda comunicación va cifrada por HTTPS.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C4 · Nivel 2: Diagrama de contenedores</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Aplicaciones, microservicios y almacenes de datos</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8</a:t>
            </a:r>
          </a:p>
        </p:txBody>
      </p:sp>
      <p:pic>
        <p:nvPicPr>
          <p:cNvPr id="8" name="Picture 7" descr="02-contenedores.png"/>
          <p:cNvPicPr>
            <a:picLocks noChangeAspect="1"/>
          </p:cNvPicPr>
          <p:nvPr/>
        </p:nvPicPr>
        <p:blipFill>
          <a:blip r:embed="rId2"/>
          <a:stretch>
            <a:fillRect/>
          </a:stretch>
        </p:blipFill>
        <p:spPr>
          <a:xfrm>
            <a:off x="1729549" y="1371600"/>
            <a:ext cx="4953382" cy="5029200"/>
          </a:xfrm>
          <a:prstGeom prst="rect">
            <a:avLst/>
          </a:prstGeom>
        </p:spPr>
      </p:pic>
      <p:sp>
        <p:nvSpPr>
          <p:cNvPr id="9" name="TextBox 8"/>
          <p:cNvSpPr txBox="1"/>
          <p:nvPr/>
        </p:nvSpPr>
        <p:spPr>
          <a:xfrm>
            <a:off x="8229600" y="1645920"/>
            <a:ext cx="3657600" cy="4754880"/>
          </a:xfrm>
          <a:prstGeom prst="rect">
            <a:avLst/>
          </a:prstGeom>
          <a:noFill/>
        </p:spPr>
        <p:txBody>
          <a:bodyPr wrap="square">
            <a:spAutoFit/>
          </a:bodyPr>
          <a:lstStyle/>
          <a:p>
            <a:pPr>
              <a:spcAft>
                <a:spcPts val="800"/>
              </a:spcAft>
            </a:pPr>
            <a:r>
              <a:rPr b="1" sz="1500">
                <a:solidFill>
                  <a:srgbClr val="0B3C5D"/>
                </a:solidFill>
                <a:latin typeface="Calibri"/>
              </a:rPr>
              <a:t>▸ Clientes: </a:t>
            </a:r>
            <a:r>
              <a:rPr sz="1500">
                <a:solidFill>
                  <a:srgbClr val="262626"/>
                </a:solidFill>
                <a:latin typeface="Calibri"/>
              </a:rPr>
              <a:t>React + Electron</a:t>
            </a:r>
          </a:p>
          <a:p>
            <a:pPr>
              <a:spcAft>
                <a:spcPts val="800"/>
              </a:spcAft>
            </a:pPr>
            <a:r>
              <a:rPr b="1" sz="1500">
                <a:solidFill>
                  <a:srgbClr val="0B3C5D"/>
                </a:solidFill>
                <a:latin typeface="Calibri"/>
              </a:rPr>
              <a:t>▸ Gateway: </a:t>
            </a:r>
            <a:r>
              <a:rPr sz="1500">
                <a:solidFill>
                  <a:srgbClr val="262626"/>
                </a:solidFill>
                <a:latin typeface="Calibri"/>
              </a:rPr>
              <a:t>API Management valida el token JWT</a:t>
            </a:r>
          </a:p>
          <a:p>
            <a:pPr>
              <a:spcAft>
                <a:spcPts val="800"/>
              </a:spcAft>
            </a:pPr>
            <a:r>
              <a:rPr b="1" sz="1500">
                <a:solidFill>
                  <a:srgbClr val="0B3C5D"/>
                </a:solidFill>
                <a:latin typeface="Calibri"/>
              </a:rPr>
              <a:t>▸ 5 microservicios: </a:t>
            </a:r>
            <a:r>
              <a:rPr sz="1500">
                <a:solidFill>
                  <a:srgbClr val="262626"/>
                </a:solidFill>
                <a:latin typeface="Calibri"/>
              </a:rPr>
              <a:t>uno por historia de usuario + casos</a:t>
            </a:r>
          </a:p>
          <a:p>
            <a:pPr>
              <a:spcAft>
                <a:spcPts val="800"/>
              </a:spcAft>
            </a:pPr>
            <a:r>
              <a:rPr b="1" sz="1500">
                <a:solidFill>
                  <a:srgbClr val="0B3C5D"/>
                </a:solidFill>
                <a:latin typeface="Calibri"/>
              </a:rPr>
              <a:t>▸ Datos propios: </a:t>
            </a:r>
            <a:r>
              <a:rPr sz="1500">
                <a:solidFill>
                  <a:srgbClr val="262626"/>
                </a:solidFill>
                <a:latin typeface="Calibri"/>
              </a:rPr>
              <a:t>cada servicio tiene su almacén</a:t>
            </a:r>
          </a:p>
          <a:p>
            <a:pPr>
              <a:spcAft>
                <a:spcPts val="800"/>
              </a:spcAft>
            </a:pPr>
            <a:r>
              <a:rPr b="1" sz="1500">
                <a:solidFill>
                  <a:srgbClr val="0B3C5D"/>
                </a:solidFill>
                <a:latin typeface="Calibri"/>
              </a:rPr>
              <a:t>▸ Eventos: </a:t>
            </a:r>
            <a:r>
              <a:rPr sz="1500">
                <a:solidFill>
                  <a:srgbClr val="262626"/>
                </a:solidFill>
                <a:latin typeface="Calibri"/>
              </a:rPr>
              <a:t>Service Bus desacopla la remisión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C4 · Nivel 3: Componentes del Asistente de Diagnóstico</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HU02 · Reglas clínicas + motor de apoyo, siempre con supervisión de la enfermera</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9</a:t>
            </a:r>
          </a:p>
        </p:txBody>
      </p:sp>
      <p:pic>
        <p:nvPicPr>
          <p:cNvPr id="8" name="Picture 7" descr="03b-componentes-diagnostico.png"/>
          <p:cNvPicPr>
            <a:picLocks noChangeAspect="1"/>
          </p:cNvPicPr>
          <p:nvPr/>
        </p:nvPicPr>
        <p:blipFill>
          <a:blip r:embed="rId2"/>
          <a:stretch>
            <a:fillRect/>
          </a:stretch>
        </p:blipFill>
        <p:spPr>
          <a:xfrm>
            <a:off x="1728073" y="1371600"/>
            <a:ext cx="2944654" cy="5029200"/>
          </a:xfrm>
          <a:prstGeom prst="rect">
            <a:avLst/>
          </a:prstGeom>
        </p:spPr>
      </p:pic>
      <p:sp>
        <p:nvSpPr>
          <p:cNvPr id="9" name="TextBox 8"/>
          <p:cNvSpPr txBox="1"/>
          <p:nvPr/>
        </p:nvSpPr>
        <p:spPr>
          <a:xfrm>
            <a:off x="6309360" y="1737360"/>
            <a:ext cx="5486400" cy="4572000"/>
          </a:xfrm>
          <a:prstGeom prst="rect">
            <a:avLst/>
          </a:prstGeom>
          <a:noFill/>
        </p:spPr>
        <p:txBody>
          <a:bodyPr wrap="square">
            <a:spAutoFit/>
          </a:bodyPr>
          <a:lstStyle/>
          <a:p>
            <a:pPr>
              <a:spcAft>
                <a:spcPts val="800"/>
              </a:spcAft>
            </a:pPr>
            <a:r>
              <a:rPr b="1" sz="1500">
                <a:solidFill>
                  <a:srgbClr val="0B3C5D"/>
                </a:solidFill>
                <a:latin typeface="Calibri"/>
              </a:rPr>
              <a:t>▸ Validador: </a:t>
            </a:r>
            <a:r>
              <a:rPr sz="1500">
                <a:solidFill>
                  <a:srgbClr val="262626"/>
                </a:solidFill>
                <a:latin typeface="Calibri"/>
              </a:rPr>
              <a:t>normaliza síntomas, edad y signos vitales.</a:t>
            </a:r>
          </a:p>
          <a:p>
            <a:pPr>
              <a:spcAft>
                <a:spcPts val="800"/>
              </a:spcAft>
            </a:pPr>
            <a:r>
              <a:rPr b="1" sz="1500">
                <a:solidFill>
                  <a:srgbClr val="0B3C5D"/>
                </a:solidFill>
                <a:latin typeface="Calibri"/>
              </a:rPr>
              <a:t>▸ Motor de reglas: </a:t>
            </a:r>
            <a:r>
              <a:rPr sz="1500">
                <a:solidFill>
                  <a:srgbClr val="262626"/>
                </a:solidFill>
                <a:latin typeface="Calibri"/>
              </a:rPr>
              <a:t>detecta signos de alarma con protocolos clínicos validados.</a:t>
            </a:r>
          </a:p>
          <a:p>
            <a:pPr>
              <a:spcAft>
                <a:spcPts val="800"/>
              </a:spcAft>
            </a:pPr>
            <a:r>
              <a:rPr b="1" sz="1500">
                <a:solidFill>
                  <a:srgbClr val="0B3C5D"/>
                </a:solidFill>
                <a:latin typeface="Calibri"/>
              </a:rPr>
              <a:t>▸ Anonimizador: </a:t>
            </a:r>
            <a:r>
              <a:rPr sz="1500">
                <a:solidFill>
                  <a:srgbClr val="262626"/>
                </a:solidFill>
                <a:latin typeface="Calibri"/>
              </a:rPr>
              <a:t>elimina nombre y documento antes de consultar el modelo.</a:t>
            </a:r>
          </a:p>
          <a:p>
            <a:pPr>
              <a:spcAft>
                <a:spcPts val="800"/>
              </a:spcAft>
            </a:pPr>
            <a:r>
              <a:rPr b="1" sz="1500">
                <a:solidFill>
                  <a:srgbClr val="0B3C5D"/>
                </a:solidFill>
                <a:latin typeface="Calibri"/>
              </a:rPr>
              <a:t>▸ Agregador: </a:t>
            </a:r>
            <a:r>
              <a:rPr sz="1500">
                <a:solidFill>
                  <a:srgbClr val="262626"/>
                </a:solidFill>
                <a:latin typeface="Calibri"/>
              </a:rPr>
              <a:t>combina reglas y sugerencias en un nivel de urgencia.</a:t>
            </a:r>
          </a:p>
          <a:p>
            <a:pPr>
              <a:spcAft>
                <a:spcPts val="800"/>
              </a:spcAft>
            </a:pPr>
            <a:r>
              <a:rPr b="1" sz="1500">
                <a:solidFill>
                  <a:srgbClr val="0B3C5D"/>
                </a:solidFill>
                <a:latin typeface="Calibri"/>
              </a:rPr>
              <a:t>▸ Auditoría: </a:t>
            </a:r>
            <a:r>
              <a:rPr sz="1500">
                <a:solidFill>
                  <a:srgbClr val="262626"/>
                </a:solidFill>
                <a:latin typeface="Calibri"/>
              </a:rPr>
              <a:t>registra cada sugerencia para revisión médica.</a:t>
            </a:r>
          </a:p>
          <a:p>
            <a:pPr>
              <a:spcAft>
                <a:spcPts val="800"/>
              </a:spcAft>
            </a:pPr>
            <a:r>
              <a:rPr b="1" sz="1500">
                <a:solidFill>
                  <a:srgbClr val="0B3C5D"/>
                </a:solidFill>
                <a:latin typeface="Calibri"/>
              </a:rPr>
              <a:t>▸ Decisión final: </a:t>
            </a:r>
            <a:r>
              <a:rPr sz="1500">
                <a:solidFill>
                  <a:srgbClr val="262626"/>
                </a:solidFill>
                <a:latin typeface="Calibri"/>
              </a:rPr>
              <a:t>siempre la toma la enfermera.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C4 · Nivel 3: Componentes de HU01, HU03 y HU04</a:t>
            </a:r>
          </a:p>
        </p:txBody>
      </p:sp>
      <p:sp>
        <p:nvSpPr>
          <p:cNvPr id="5" name="TextBox 4"/>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6" name="TextBox 5"/>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10</a:t>
            </a:r>
          </a:p>
        </p:txBody>
      </p:sp>
      <p:sp>
        <p:nvSpPr>
          <p:cNvPr id="7" name="TextBox 6"/>
          <p:cNvSpPr txBox="1"/>
          <p:nvPr/>
        </p:nvSpPr>
        <p:spPr>
          <a:xfrm>
            <a:off x="365760" y="1234440"/>
            <a:ext cx="3657600" cy="365760"/>
          </a:xfrm>
          <a:prstGeom prst="rect">
            <a:avLst/>
          </a:prstGeom>
          <a:noFill/>
        </p:spPr>
        <p:txBody>
          <a:bodyPr wrap="square" anchor="t" lIns="45720" rIns="45720">
            <a:spAutoFit/>
          </a:bodyPr>
          <a:lstStyle/>
          <a:p>
            <a:pPr algn="ctr"/>
            <a:r>
              <a:rPr sz="1600" b="1">
                <a:solidFill>
                  <a:srgbClr val="0B3C5D"/>
                </a:solidFill>
                <a:latin typeface="Calibri"/>
              </a:rPr>
              <a:t>HU01 · Historia Clínica</a:t>
            </a:r>
          </a:p>
        </p:txBody>
      </p:sp>
      <p:pic>
        <p:nvPicPr>
          <p:cNvPr id="8" name="Picture 7" descr="03a-componentes-historia-clinica.png"/>
          <p:cNvPicPr>
            <a:picLocks noChangeAspect="1"/>
          </p:cNvPicPr>
          <p:nvPr/>
        </p:nvPicPr>
        <p:blipFill>
          <a:blip r:embed="rId2"/>
          <a:stretch>
            <a:fillRect/>
          </a:stretch>
        </p:blipFill>
        <p:spPr>
          <a:xfrm>
            <a:off x="365760" y="2337785"/>
            <a:ext cx="3657600" cy="3279710"/>
          </a:xfrm>
          <a:prstGeom prst="rect">
            <a:avLst/>
          </a:prstGeom>
        </p:spPr>
      </p:pic>
      <p:sp>
        <p:nvSpPr>
          <p:cNvPr id="9" name="TextBox 8"/>
          <p:cNvSpPr txBox="1"/>
          <p:nvPr/>
        </p:nvSpPr>
        <p:spPr>
          <a:xfrm>
            <a:off x="4206240" y="1234440"/>
            <a:ext cx="3657600" cy="365760"/>
          </a:xfrm>
          <a:prstGeom prst="rect">
            <a:avLst/>
          </a:prstGeom>
          <a:noFill/>
        </p:spPr>
        <p:txBody>
          <a:bodyPr wrap="square" anchor="t" lIns="45720" rIns="45720">
            <a:spAutoFit/>
          </a:bodyPr>
          <a:lstStyle/>
          <a:p>
            <a:pPr algn="ctr"/>
            <a:r>
              <a:rPr sz="1600" b="1">
                <a:solidFill>
                  <a:srgbClr val="0B3C5D"/>
                </a:solidFill>
                <a:latin typeface="Calibri"/>
              </a:rPr>
              <a:t>HU03 · Centros Médicos</a:t>
            </a:r>
          </a:p>
        </p:txBody>
      </p:sp>
      <p:pic>
        <p:nvPicPr>
          <p:cNvPr id="10" name="Picture 9" descr="03c-componentes-centros-medicos.png"/>
          <p:cNvPicPr>
            <a:picLocks noChangeAspect="1"/>
          </p:cNvPicPr>
          <p:nvPr/>
        </p:nvPicPr>
        <p:blipFill>
          <a:blip r:embed="rId3"/>
          <a:stretch>
            <a:fillRect/>
          </a:stretch>
        </p:blipFill>
        <p:spPr>
          <a:xfrm>
            <a:off x="4206240" y="2377440"/>
            <a:ext cx="3657600" cy="3200400"/>
          </a:xfrm>
          <a:prstGeom prst="rect">
            <a:avLst/>
          </a:prstGeom>
        </p:spPr>
      </p:pic>
      <p:sp>
        <p:nvSpPr>
          <p:cNvPr id="11" name="TextBox 10"/>
          <p:cNvSpPr txBox="1"/>
          <p:nvPr/>
        </p:nvSpPr>
        <p:spPr>
          <a:xfrm>
            <a:off x="8046720" y="1234440"/>
            <a:ext cx="3657600" cy="365760"/>
          </a:xfrm>
          <a:prstGeom prst="rect">
            <a:avLst/>
          </a:prstGeom>
          <a:noFill/>
        </p:spPr>
        <p:txBody>
          <a:bodyPr wrap="square" anchor="t" lIns="45720" rIns="45720">
            <a:spAutoFit/>
          </a:bodyPr>
          <a:lstStyle/>
          <a:p>
            <a:pPr algn="ctr"/>
            <a:r>
              <a:rPr sz="1600" b="1">
                <a:solidFill>
                  <a:srgbClr val="0B3C5D"/>
                </a:solidFill>
                <a:latin typeface="Calibri"/>
              </a:rPr>
              <a:t>HU04 · Remisión y Notificación</a:t>
            </a:r>
          </a:p>
        </p:txBody>
      </p:sp>
      <p:pic>
        <p:nvPicPr>
          <p:cNvPr id="12" name="Picture 11" descr="03d-componentes-remision.png"/>
          <p:cNvPicPr>
            <a:picLocks noChangeAspect="1"/>
          </p:cNvPicPr>
          <p:nvPr/>
        </p:nvPicPr>
        <p:blipFill>
          <a:blip r:embed="rId4"/>
          <a:stretch>
            <a:fillRect/>
          </a:stretch>
        </p:blipFill>
        <p:spPr>
          <a:xfrm>
            <a:off x="8046720" y="2011213"/>
            <a:ext cx="3657600" cy="3932853"/>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Flujo de una atención</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De la llamada a la remisión, paso a paso</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11</a:t>
            </a:r>
          </a:p>
        </p:txBody>
      </p:sp>
      <p:pic>
        <p:nvPicPr>
          <p:cNvPr id="8" name="Picture 7" descr="06-secuencia-atencion.png"/>
          <p:cNvPicPr>
            <a:picLocks noChangeAspect="1"/>
          </p:cNvPicPr>
          <p:nvPr/>
        </p:nvPicPr>
        <p:blipFill>
          <a:blip r:embed="rId2"/>
          <a:stretch>
            <a:fillRect/>
          </a:stretch>
        </p:blipFill>
        <p:spPr>
          <a:xfrm>
            <a:off x="1463790" y="1371600"/>
            <a:ext cx="9233940"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Arquitectura en la nube · Microsoft Azure</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Activo/pasivo en dos regiones con tres zonas de disponibilidad</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12</a:t>
            </a:r>
          </a:p>
        </p:txBody>
      </p:sp>
      <p:pic>
        <p:nvPicPr>
          <p:cNvPr id="8" name="Picture 7" descr="05-nube-azure.png"/>
          <p:cNvPicPr>
            <a:picLocks noChangeAspect="1"/>
          </p:cNvPicPr>
          <p:nvPr/>
        </p:nvPicPr>
        <p:blipFill>
          <a:blip r:embed="rId2"/>
          <a:stretch>
            <a:fillRect/>
          </a:stretch>
        </p:blipFill>
        <p:spPr>
          <a:xfrm>
            <a:off x="1295139" y="1325880"/>
            <a:ext cx="4907801" cy="5120640"/>
          </a:xfrm>
          <a:prstGeom prst="rect">
            <a:avLst/>
          </a:prstGeom>
        </p:spPr>
      </p:pic>
      <p:sp>
        <p:nvSpPr>
          <p:cNvPr id="9" name="TextBox 8"/>
          <p:cNvSpPr txBox="1"/>
          <p:nvPr/>
        </p:nvSpPr>
        <p:spPr>
          <a:xfrm>
            <a:off x="7315200" y="1554480"/>
            <a:ext cx="4572000" cy="4846320"/>
          </a:xfrm>
          <a:prstGeom prst="rect">
            <a:avLst/>
          </a:prstGeom>
          <a:noFill/>
        </p:spPr>
        <p:txBody>
          <a:bodyPr wrap="square">
            <a:spAutoFit/>
          </a:bodyPr>
          <a:lstStyle/>
          <a:p>
            <a:pPr>
              <a:spcAft>
                <a:spcPts val="600"/>
              </a:spcAft>
            </a:pPr>
            <a:r>
              <a:rPr b="1" sz="1500">
                <a:solidFill>
                  <a:srgbClr val="0B3C5D"/>
                </a:solidFill>
                <a:latin typeface="Calibri"/>
              </a:rPr>
              <a:t>▸ Front Door + WAF: </a:t>
            </a:r>
            <a:r>
              <a:rPr sz="1500">
                <a:solidFill>
                  <a:srgbClr val="262626"/>
                </a:solidFill>
                <a:latin typeface="Calibri"/>
              </a:rPr>
              <a:t>entrada global y failover</a:t>
            </a:r>
          </a:p>
          <a:p>
            <a:pPr>
              <a:spcAft>
                <a:spcPts val="600"/>
              </a:spcAft>
            </a:pPr>
            <a:r>
              <a:rPr b="1" sz="1500">
                <a:solidFill>
                  <a:srgbClr val="0B3C5D"/>
                </a:solidFill>
                <a:latin typeface="Calibri"/>
              </a:rPr>
              <a:t>▸ East US 2: </a:t>
            </a:r>
            <a:r>
              <a:rPr sz="1500">
                <a:solidFill>
                  <a:srgbClr val="262626"/>
                </a:solidFill>
                <a:latin typeface="Calibri"/>
              </a:rPr>
              <a:t>región activa, 3 zonas</a:t>
            </a:r>
          </a:p>
          <a:p>
            <a:pPr>
              <a:spcAft>
                <a:spcPts val="600"/>
              </a:spcAft>
            </a:pPr>
            <a:r>
              <a:rPr b="1" sz="1500">
                <a:solidFill>
                  <a:srgbClr val="0B3C5D"/>
                </a:solidFill>
                <a:latin typeface="Calibri"/>
              </a:rPr>
              <a:t>▸ Central US: </a:t>
            </a:r>
            <a:r>
              <a:rPr sz="1500">
                <a:solidFill>
                  <a:srgbClr val="262626"/>
                </a:solidFill>
                <a:latin typeface="Calibri"/>
              </a:rPr>
              <a:t>región de recuperación</a:t>
            </a:r>
          </a:p>
          <a:p>
            <a:pPr>
              <a:spcAft>
                <a:spcPts val="600"/>
              </a:spcAft>
            </a:pPr>
            <a:r>
              <a:rPr b="1" sz="1500">
                <a:solidFill>
                  <a:srgbClr val="0B3C5D"/>
                </a:solidFill>
                <a:latin typeface="Calibri"/>
              </a:rPr>
              <a:t>▸ AKS: </a:t>
            </a:r>
            <a:r>
              <a:rPr sz="1500">
                <a:solidFill>
                  <a:srgbClr val="262626"/>
                </a:solidFill>
                <a:latin typeface="Calibri"/>
              </a:rPr>
              <a:t>3 a 12 nodos con autoescalado</a:t>
            </a:r>
          </a:p>
          <a:p>
            <a:pPr>
              <a:spcAft>
                <a:spcPts val="600"/>
              </a:spcAft>
            </a:pPr>
            <a:r>
              <a:rPr b="1" sz="1500">
                <a:solidFill>
                  <a:srgbClr val="0B3C5D"/>
                </a:solidFill>
                <a:latin typeface="Calibri"/>
              </a:rPr>
              <a:t>▸ PostgreSQL: </a:t>
            </a:r>
            <a:r>
              <a:rPr sz="1500">
                <a:solidFill>
                  <a:srgbClr val="262626"/>
                </a:solidFill>
                <a:latin typeface="Calibri"/>
              </a:rPr>
              <a:t>HA zona-redundante + réplica geo</a:t>
            </a:r>
          </a:p>
          <a:p>
            <a:pPr>
              <a:spcAft>
                <a:spcPts val="600"/>
              </a:spcAft>
            </a:pPr>
            <a:r>
              <a:rPr b="1" sz="1500">
                <a:solidFill>
                  <a:srgbClr val="0B3C5D"/>
                </a:solidFill>
                <a:latin typeface="Calibri"/>
              </a:rPr>
              <a:t>▸ Private Endpoints: </a:t>
            </a:r>
            <a:r>
              <a:rPr sz="1500">
                <a:solidFill>
                  <a:srgbClr val="262626"/>
                </a:solidFill>
                <a:latin typeface="Calibri"/>
              </a:rPr>
              <a:t>datos fuera de internet</a:t>
            </a:r>
          </a:p>
          <a:p>
            <a:pPr>
              <a:spcAft>
                <a:spcPts val="600"/>
              </a:spcAft>
            </a:pPr>
            <a:r>
              <a:rPr b="1" sz="1500">
                <a:solidFill>
                  <a:srgbClr val="0B3C5D"/>
                </a:solidFill>
                <a:latin typeface="Calibri"/>
              </a:rPr>
              <a:t>▸ Azure Monitor: </a:t>
            </a:r>
            <a:r>
              <a:rPr sz="1500">
                <a:solidFill>
                  <a:srgbClr val="262626"/>
                </a:solidFill>
                <a:latin typeface="Calibri"/>
              </a:rPr>
              <a:t>logs, métricas y alertas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Seguridad</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Autenticación centralizada y protección de datos clínicos</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13</a:t>
            </a:r>
          </a:p>
        </p:txBody>
      </p:sp>
      <p:sp>
        <p:nvSpPr>
          <p:cNvPr id="8" name="Rounded Rectangle 7"/>
          <p:cNvSpPr/>
          <p:nvPr/>
        </p:nvSpPr>
        <p:spPr>
          <a:xfrm>
            <a:off x="548640" y="1600200"/>
            <a:ext cx="1874519" cy="1051560"/>
          </a:xfrm>
          <a:prstGeom prst="round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600200"/>
            <a:ext cx="1728216" cy="1051560"/>
          </a:xfrm>
          <a:prstGeom prst="rect">
            <a:avLst/>
          </a:prstGeom>
          <a:noFill/>
        </p:spPr>
        <p:txBody>
          <a:bodyPr wrap="square" anchor="ctr" lIns="45720" rIns="45720">
            <a:spAutoFit/>
          </a:bodyPr>
          <a:lstStyle/>
          <a:p>
            <a:pPr algn="ctr"/>
            <a:r>
              <a:rPr sz="1400" b="1">
                <a:solidFill>
                  <a:srgbClr val="FFFFFF"/>
                </a:solidFill>
                <a:latin typeface="Calibri"/>
              </a:rPr>
              <a:t>Enfermera abre la app</a:t>
            </a:r>
          </a:p>
        </p:txBody>
      </p:sp>
      <p:sp>
        <p:nvSpPr>
          <p:cNvPr id="10" name="Right Arrow 9"/>
          <p:cNvSpPr/>
          <p:nvPr/>
        </p:nvSpPr>
        <p:spPr>
          <a:xfrm>
            <a:off x="2468880" y="1984248"/>
            <a:ext cx="329184" cy="292608"/>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34640" y="1600200"/>
            <a:ext cx="1874519" cy="1051560"/>
          </a:xfrm>
          <a:prstGeom prst="round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07792" y="1600200"/>
            <a:ext cx="1728216" cy="1051560"/>
          </a:xfrm>
          <a:prstGeom prst="rect">
            <a:avLst/>
          </a:prstGeom>
          <a:noFill/>
        </p:spPr>
        <p:txBody>
          <a:bodyPr wrap="square" anchor="ctr" lIns="45720" rIns="45720">
            <a:spAutoFit/>
          </a:bodyPr>
          <a:lstStyle/>
          <a:p>
            <a:pPr algn="ctr"/>
            <a:r>
              <a:rPr sz="1400" b="1">
                <a:solidFill>
                  <a:srgbClr val="FFFFFF"/>
                </a:solidFill>
                <a:latin typeface="Calibri"/>
              </a:rPr>
              <a:t>Redirección a Entra ID</a:t>
            </a:r>
          </a:p>
        </p:txBody>
      </p:sp>
      <p:sp>
        <p:nvSpPr>
          <p:cNvPr id="13" name="Right Arrow 12"/>
          <p:cNvSpPr/>
          <p:nvPr/>
        </p:nvSpPr>
        <p:spPr>
          <a:xfrm>
            <a:off x="4754880" y="1984248"/>
            <a:ext cx="329184" cy="292608"/>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600200"/>
            <a:ext cx="1874519" cy="1051560"/>
          </a:xfrm>
          <a:prstGeom prst="round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93792" y="1600200"/>
            <a:ext cx="1728216" cy="1051560"/>
          </a:xfrm>
          <a:prstGeom prst="rect">
            <a:avLst/>
          </a:prstGeom>
          <a:noFill/>
        </p:spPr>
        <p:txBody>
          <a:bodyPr wrap="square" anchor="ctr" lIns="45720" rIns="45720">
            <a:spAutoFit/>
          </a:bodyPr>
          <a:lstStyle/>
          <a:p>
            <a:pPr algn="ctr"/>
            <a:r>
              <a:rPr sz="1400" b="1">
                <a:solidFill>
                  <a:srgbClr val="FFFFFF"/>
                </a:solidFill>
                <a:latin typeface="Calibri"/>
              </a:rPr>
              <a:t>Login en el sistema corporativo + MFA</a:t>
            </a:r>
          </a:p>
        </p:txBody>
      </p:sp>
      <p:sp>
        <p:nvSpPr>
          <p:cNvPr id="16" name="Right Arrow 15"/>
          <p:cNvSpPr/>
          <p:nvPr/>
        </p:nvSpPr>
        <p:spPr>
          <a:xfrm>
            <a:off x="7040880" y="1984248"/>
            <a:ext cx="329184" cy="292608"/>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06640" y="1600200"/>
            <a:ext cx="1874519" cy="1051560"/>
          </a:xfrm>
          <a:prstGeom prst="round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9792" y="1600200"/>
            <a:ext cx="1728216" cy="1051560"/>
          </a:xfrm>
          <a:prstGeom prst="rect">
            <a:avLst/>
          </a:prstGeom>
          <a:noFill/>
        </p:spPr>
        <p:txBody>
          <a:bodyPr wrap="square" anchor="ctr" lIns="45720" rIns="45720">
            <a:spAutoFit/>
          </a:bodyPr>
          <a:lstStyle/>
          <a:p>
            <a:pPr algn="ctr"/>
            <a:r>
              <a:rPr sz="1400" b="1">
                <a:solidFill>
                  <a:srgbClr val="FFFFFF"/>
                </a:solidFill>
                <a:latin typeface="Calibri"/>
              </a:rPr>
              <a:t>Token JWT con rol</a:t>
            </a:r>
          </a:p>
        </p:txBody>
      </p:sp>
      <p:sp>
        <p:nvSpPr>
          <p:cNvPr id="19" name="Right Arrow 18"/>
          <p:cNvSpPr/>
          <p:nvPr/>
        </p:nvSpPr>
        <p:spPr>
          <a:xfrm>
            <a:off x="9326880" y="1984248"/>
            <a:ext cx="329184" cy="292608"/>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692640" y="1600200"/>
            <a:ext cx="1874519" cy="1051560"/>
          </a:xfrm>
          <a:prstGeom prst="roundRect">
            <a:avLst/>
          </a:prstGeom>
          <a:solidFill>
            <a:srgbClr val="1168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65792" y="1600200"/>
            <a:ext cx="1728216" cy="1051560"/>
          </a:xfrm>
          <a:prstGeom prst="rect">
            <a:avLst/>
          </a:prstGeom>
          <a:noFill/>
        </p:spPr>
        <p:txBody>
          <a:bodyPr wrap="square" anchor="ctr" lIns="45720" rIns="45720">
            <a:spAutoFit/>
          </a:bodyPr>
          <a:lstStyle/>
          <a:p>
            <a:pPr algn="ctr"/>
            <a:r>
              <a:rPr sz="1400" b="1">
                <a:solidFill>
                  <a:srgbClr val="FFFFFF"/>
                </a:solidFill>
                <a:latin typeface="Calibri"/>
              </a:rPr>
              <a:t>API Management valida el token</a:t>
            </a:r>
          </a:p>
        </p:txBody>
      </p:sp>
      <p:sp>
        <p:nvSpPr>
          <p:cNvPr id="22" name="TextBox 21"/>
          <p:cNvSpPr txBox="1"/>
          <p:nvPr/>
        </p:nvSpPr>
        <p:spPr>
          <a:xfrm>
            <a:off x="548640" y="2743200"/>
            <a:ext cx="10972800" cy="365760"/>
          </a:xfrm>
          <a:prstGeom prst="rect">
            <a:avLst/>
          </a:prstGeom>
          <a:noFill/>
        </p:spPr>
        <p:txBody>
          <a:bodyPr wrap="square" anchor="t" lIns="45720" rIns="45720">
            <a:spAutoFit/>
          </a:bodyPr>
          <a:lstStyle/>
          <a:p>
            <a:pPr algn="ctr"/>
            <a:r>
              <a:rPr sz="1400" b="0">
                <a:solidFill>
                  <a:srgbClr val="595959"/>
                </a:solidFill>
                <a:latin typeface="Calibri"/>
              </a:rPr>
              <a:t>OpenID Connect + OAuth 2.0 con PKCE · la aplicación nunca maneja contraseñas</a:t>
            </a:r>
          </a:p>
        </p:txBody>
      </p:sp>
      <p:sp>
        <p:nvSpPr>
          <p:cNvPr id="23" name="TextBox 22"/>
          <p:cNvSpPr txBox="1"/>
          <p:nvPr/>
        </p:nvSpPr>
        <p:spPr>
          <a:xfrm>
            <a:off x="731520" y="3291840"/>
            <a:ext cx="5303520" cy="3017520"/>
          </a:xfrm>
          <a:prstGeom prst="rect">
            <a:avLst/>
          </a:prstGeom>
          <a:noFill/>
        </p:spPr>
        <p:txBody>
          <a:bodyPr wrap="square">
            <a:spAutoFit/>
          </a:bodyPr>
          <a:lstStyle/>
          <a:p>
            <a:pPr>
              <a:spcAft>
                <a:spcPts val="800"/>
              </a:spcAft>
            </a:pPr>
            <a:r>
              <a:rPr sz="1600">
                <a:solidFill>
                  <a:srgbClr val="262626"/>
                </a:solidFill>
                <a:latin typeface="Calibri"/>
              </a:rPr>
              <a:t>▸ Cifrado TLS 1.2+ en tránsito y cifrado en reposo con llaves en Key Vault.</a:t>
            </a:r>
          </a:p>
          <a:p>
            <a:pPr>
              <a:spcAft>
                <a:spcPts val="800"/>
              </a:spcAft>
            </a:pPr>
            <a:r>
              <a:rPr sz="1600">
                <a:solidFill>
                  <a:srgbClr val="262626"/>
                </a:solidFill>
                <a:latin typeface="Calibri"/>
              </a:rPr>
              <a:t>▸ Bases de datos, FHIR y mensajería solo por red privada.</a:t>
            </a:r>
          </a:p>
          <a:p>
            <a:pPr>
              <a:spcAft>
                <a:spcPts val="800"/>
              </a:spcAft>
            </a:pPr>
            <a:r>
              <a:rPr sz="1600">
                <a:solidFill>
                  <a:srgbClr val="262626"/>
                </a:solidFill>
                <a:latin typeface="Calibri"/>
              </a:rPr>
              <a:t>▸ WAF con reglas OWASP en Front Door.</a:t>
            </a:r>
          </a:p>
        </p:txBody>
      </p:sp>
      <p:sp>
        <p:nvSpPr>
          <p:cNvPr id="24" name="TextBox 23"/>
          <p:cNvSpPr txBox="1"/>
          <p:nvPr/>
        </p:nvSpPr>
        <p:spPr>
          <a:xfrm>
            <a:off x="6309360" y="3291840"/>
            <a:ext cx="5394960" cy="3017520"/>
          </a:xfrm>
          <a:prstGeom prst="rect">
            <a:avLst/>
          </a:prstGeom>
          <a:noFill/>
        </p:spPr>
        <p:txBody>
          <a:bodyPr wrap="square">
            <a:spAutoFit/>
          </a:bodyPr>
          <a:lstStyle/>
          <a:p>
            <a:pPr>
              <a:spcAft>
                <a:spcPts val="800"/>
              </a:spcAft>
            </a:pPr>
            <a:r>
              <a:rPr sz="1600">
                <a:solidFill>
                  <a:srgbClr val="262626"/>
                </a:solidFill>
                <a:latin typeface="Calibri"/>
              </a:rPr>
              <a:t>▸ Roles: enfermera, supervisora y administrador.</a:t>
            </a:r>
          </a:p>
          <a:p>
            <a:pPr>
              <a:spcAft>
                <a:spcPts val="800"/>
              </a:spcAft>
            </a:pPr>
            <a:r>
              <a:rPr sz="1600">
                <a:solidFill>
                  <a:srgbClr val="262626"/>
                </a:solidFill>
                <a:latin typeface="Calibri"/>
              </a:rPr>
              <a:t>▸ Auditoría de cada acceso a una historia clínica.</a:t>
            </a:r>
          </a:p>
          <a:p>
            <a:pPr>
              <a:spcAft>
                <a:spcPts val="800"/>
              </a:spcAft>
            </a:pPr>
            <a:r>
              <a:rPr sz="1600">
                <a:solidFill>
                  <a:srgbClr val="262626"/>
                </a:solidFill>
                <a:latin typeface="Calibri"/>
              </a:rPr>
              <a:t>▸ Cumplimiento HIPAA (BAA), ISO 27001 y normativa local de datos de salud.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Alta disponibilidad y monitoreo</a:t>
            </a:r>
          </a:p>
        </p:txBody>
      </p:sp>
      <p:sp>
        <p:nvSpPr>
          <p:cNvPr id="5" name="TextBox 4"/>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6" name="TextBox 5"/>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14</a:t>
            </a:r>
          </a:p>
        </p:txBody>
      </p:sp>
      <p:graphicFrame>
        <p:nvGraphicFramePr>
          <p:cNvPr id="7" name="Table 6"/>
          <p:cNvGraphicFramePr>
            <a:graphicFrameLocks noGrp="1"/>
          </p:cNvGraphicFramePr>
          <p:nvPr/>
        </p:nvGraphicFramePr>
        <p:xfrm>
          <a:off x="548640" y="1463040"/>
          <a:ext cx="5760720" cy="3017520"/>
        </p:xfrm>
        <a:graphic>
          <a:graphicData uri="http://schemas.openxmlformats.org/drawingml/2006/table">
            <a:tbl>
              <a:tblPr firstRow="1" bandRow="1">
                <a:tableStyleId>{5C22544A-7EE6-4342-B048-85BDC9FD1C3A}</a:tableStyleId>
              </a:tblPr>
              <a:tblGrid>
                <a:gridCol w="1645920"/>
                <a:gridCol w="4114800"/>
              </a:tblGrid>
              <a:tr h="502920">
                <a:tc>
                  <a:txBody>
                    <a:bodyPr/>
                    <a:lstStyle/>
                    <a:p>
                      <a:pPr>
                        <a:defRPr sz="1400" b="1">
                          <a:solidFill>
                            <a:srgbClr val="FFFFFF"/>
                          </a:solidFill>
                          <a:latin typeface="Calibri"/>
                        </a:defRPr>
                      </a:pPr>
                      <a:r>
                        <a:t>Capa</a:t>
                      </a:r>
                    </a:p>
                  </a:txBody>
                  <a:tcPr marL="73152" marR="73152" marT="27432" marB="27432" anchor="ctr">
                    <a:solidFill>
                      <a:srgbClr val="0B3C5D"/>
                    </a:solidFill>
                  </a:tcPr>
                </a:tc>
                <a:tc>
                  <a:txBody>
                    <a:bodyPr/>
                    <a:lstStyle/>
                    <a:p>
                      <a:pPr>
                        <a:defRPr sz="1400" b="1">
                          <a:solidFill>
                            <a:srgbClr val="FFFFFF"/>
                          </a:solidFill>
                          <a:latin typeface="Calibri"/>
                        </a:defRPr>
                      </a:pPr>
                      <a:r>
                        <a:t>Mecanismo</a:t>
                      </a:r>
                    </a:p>
                  </a:txBody>
                  <a:tcPr marL="73152" marR="73152" marT="27432" marB="27432" anchor="ctr">
                    <a:solidFill>
                      <a:srgbClr val="0B3C5D"/>
                    </a:solidFill>
                  </a:tcPr>
                </a:tc>
              </a:tr>
              <a:tr h="502920">
                <a:tc>
                  <a:txBody>
                    <a:bodyPr/>
                    <a:lstStyle/>
                    <a:p>
                      <a:pPr>
                        <a:defRPr sz="1400">
                          <a:solidFill>
                            <a:srgbClr val="262626"/>
                          </a:solidFill>
                          <a:latin typeface="Calibri"/>
                        </a:defRPr>
                      </a:pPr>
                      <a:r>
                        <a:t>Entrada</a:t>
                      </a:r>
                    </a:p>
                  </a:txBody>
                  <a:tcPr marL="73152" marR="73152" marT="27432" marB="27432" anchor="ctr">
                    <a:solidFill>
                      <a:srgbClr val="FFFFFF"/>
                    </a:solidFill>
                  </a:tcPr>
                </a:tc>
                <a:tc>
                  <a:txBody>
                    <a:bodyPr/>
                    <a:lstStyle/>
                    <a:p>
                      <a:pPr>
                        <a:defRPr sz="1400">
                          <a:solidFill>
                            <a:srgbClr val="262626"/>
                          </a:solidFill>
                          <a:latin typeface="Calibri"/>
                        </a:defRPr>
                      </a:pPr>
                      <a:r>
                        <a:t>Front Door con failover entre regiones</a:t>
                      </a:r>
                    </a:p>
                  </a:txBody>
                  <a:tcPr marL="73152" marR="73152" marT="27432" marB="27432" anchor="ctr">
                    <a:solidFill>
                      <a:srgbClr val="FFFFFF"/>
                    </a:solidFill>
                  </a:tcPr>
                </a:tc>
              </a:tr>
              <a:tr h="502920">
                <a:tc>
                  <a:txBody>
                    <a:bodyPr/>
                    <a:lstStyle/>
                    <a:p>
                      <a:pPr>
                        <a:defRPr sz="1400">
                          <a:solidFill>
                            <a:srgbClr val="262626"/>
                          </a:solidFill>
                          <a:latin typeface="Calibri"/>
                        </a:defRPr>
                      </a:pPr>
                      <a:r>
                        <a:t>Cómputo</a:t>
                      </a:r>
                    </a:p>
                  </a:txBody>
                  <a:tcPr marL="73152" marR="73152" marT="27432" marB="27432" anchor="ctr">
                    <a:solidFill>
                      <a:srgbClr val="EAF2FB"/>
                    </a:solidFill>
                  </a:tcPr>
                </a:tc>
                <a:tc>
                  <a:txBody>
                    <a:bodyPr/>
                    <a:lstStyle/>
                    <a:p>
                      <a:pPr>
                        <a:defRPr sz="1400">
                          <a:solidFill>
                            <a:srgbClr val="262626"/>
                          </a:solidFill>
                          <a:latin typeface="Calibri"/>
                        </a:defRPr>
                      </a:pPr>
                      <a:r>
                        <a:t>AKS en 3 zonas, autoescalado</a:t>
                      </a:r>
                    </a:p>
                  </a:txBody>
                  <a:tcPr marL="73152" marR="73152" marT="27432" marB="27432" anchor="ctr">
                    <a:solidFill>
                      <a:srgbClr val="EAF2FB"/>
                    </a:solidFill>
                  </a:tcPr>
                </a:tc>
              </a:tr>
              <a:tr h="502920">
                <a:tc>
                  <a:txBody>
                    <a:bodyPr/>
                    <a:lstStyle/>
                    <a:p>
                      <a:pPr>
                        <a:defRPr sz="1400">
                          <a:solidFill>
                            <a:srgbClr val="262626"/>
                          </a:solidFill>
                          <a:latin typeface="Calibri"/>
                        </a:defRPr>
                      </a:pPr>
                      <a:r>
                        <a:t>Datos</a:t>
                      </a:r>
                    </a:p>
                  </a:txBody>
                  <a:tcPr marL="73152" marR="73152" marT="27432" marB="27432" anchor="ctr">
                    <a:solidFill>
                      <a:srgbClr val="FFFFFF"/>
                    </a:solidFill>
                  </a:tcPr>
                </a:tc>
                <a:tc>
                  <a:txBody>
                    <a:bodyPr/>
                    <a:lstStyle/>
                    <a:p>
                      <a:pPr>
                        <a:defRPr sz="1400">
                          <a:solidFill>
                            <a:srgbClr val="262626"/>
                          </a:solidFill>
                          <a:latin typeface="Calibri"/>
                        </a:defRPr>
                      </a:pPr>
                      <a:r>
                        <a:t>PostgreSQL HA + réplica geográfica</a:t>
                      </a:r>
                    </a:p>
                  </a:txBody>
                  <a:tcPr marL="73152" marR="73152" marT="27432" marB="27432" anchor="ctr">
                    <a:solidFill>
                      <a:srgbClr val="FFFFFF"/>
                    </a:solidFill>
                  </a:tcPr>
                </a:tc>
              </a:tr>
              <a:tr h="502920">
                <a:tc>
                  <a:txBody>
                    <a:bodyPr/>
                    <a:lstStyle/>
                    <a:p>
                      <a:pPr>
                        <a:defRPr sz="1400">
                          <a:solidFill>
                            <a:srgbClr val="262626"/>
                          </a:solidFill>
                          <a:latin typeface="Calibri"/>
                        </a:defRPr>
                      </a:pPr>
                      <a:r>
                        <a:t>Mensajería</a:t>
                      </a:r>
                    </a:p>
                  </a:txBody>
                  <a:tcPr marL="73152" marR="73152" marT="27432" marB="27432" anchor="ctr">
                    <a:solidFill>
                      <a:srgbClr val="EAF2FB"/>
                    </a:solidFill>
                  </a:tcPr>
                </a:tc>
                <a:tc>
                  <a:txBody>
                    <a:bodyPr/>
                    <a:lstStyle/>
                    <a:p>
                      <a:pPr>
                        <a:defRPr sz="1400">
                          <a:solidFill>
                            <a:srgbClr val="262626"/>
                          </a:solidFill>
                          <a:latin typeface="Calibri"/>
                        </a:defRPr>
                      </a:pPr>
                      <a:r>
                        <a:t>Service Bus con reintentos</a:t>
                      </a:r>
                    </a:p>
                  </a:txBody>
                  <a:tcPr marL="73152" marR="73152" marT="27432" marB="27432" anchor="ctr">
                    <a:solidFill>
                      <a:srgbClr val="EAF2FB"/>
                    </a:solidFill>
                  </a:tcPr>
                </a:tc>
              </a:tr>
              <a:tr h="502920">
                <a:tc>
                  <a:txBody>
                    <a:bodyPr/>
                    <a:lstStyle/>
                    <a:p>
                      <a:pPr>
                        <a:defRPr sz="1400">
                          <a:solidFill>
                            <a:srgbClr val="262626"/>
                          </a:solidFill>
                          <a:latin typeface="Calibri"/>
                        </a:defRPr>
                      </a:pPr>
                      <a:r>
                        <a:t>Recuperación</a:t>
                      </a:r>
                    </a:p>
                  </a:txBody>
                  <a:tcPr marL="73152" marR="73152" marT="27432" marB="27432" anchor="ctr">
                    <a:solidFill>
                      <a:srgbClr val="FFFFFF"/>
                    </a:solidFill>
                  </a:tcPr>
                </a:tc>
                <a:tc>
                  <a:txBody>
                    <a:bodyPr/>
                    <a:lstStyle/>
                    <a:p>
                      <a:pPr>
                        <a:defRPr sz="1400">
                          <a:solidFill>
                            <a:srgbClr val="262626"/>
                          </a:solidFill>
                          <a:latin typeface="Calibri"/>
                        </a:defRPr>
                      </a:pPr>
                      <a:r>
                        <a:t>IaC + simulacro trimestral</a:t>
                      </a:r>
                    </a:p>
                  </a:txBody>
                  <a:tcPr marL="73152" marR="73152" marT="27432" marB="27432" anchor="ctr">
                    <a:solidFill>
                      <a:srgbClr val="FFFFFF"/>
                    </a:solidFill>
                  </a:tcPr>
                </a:tc>
              </a:tr>
            </a:tbl>
          </a:graphicData>
        </a:graphic>
      </p:graphicFrame>
      <p:sp>
        <p:nvSpPr>
          <p:cNvPr id="8" name="Rectangle 7"/>
          <p:cNvSpPr/>
          <p:nvPr/>
        </p:nvSpPr>
        <p:spPr>
          <a:xfrm>
            <a:off x="548640" y="4709160"/>
            <a:ext cx="1783080" cy="14630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800600"/>
            <a:ext cx="1783080" cy="731520"/>
          </a:xfrm>
          <a:prstGeom prst="rect">
            <a:avLst/>
          </a:prstGeom>
          <a:noFill/>
        </p:spPr>
        <p:txBody>
          <a:bodyPr wrap="square" anchor="t" lIns="45720" rIns="45720">
            <a:spAutoFit/>
          </a:bodyPr>
          <a:lstStyle/>
          <a:p>
            <a:pPr algn="ctr"/>
            <a:r>
              <a:rPr sz="2800" b="1">
                <a:solidFill>
                  <a:srgbClr val="1168BD"/>
                </a:solidFill>
                <a:latin typeface="Calibri"/>
              </a:rPr>
              <a:t>99,95%</a:t>
            </a:r>
          </a:p>
        </p:txBody>
      </p:sp>
      <p:sp>
        <p:nvSpPr>
          <p:cNvPr id="10" name="TextBox 9"/>
          <p:cNvSpPr txBox="1"/>
          <p:nvPr/>
        </p:nvSpPr>
        <p:spPr>
          <a:xfrm>
            <a:off x="548640" y="5532120"/>
            <a:ext cx="1783080" cy="457200"/>
          </a:xfrm>
          <a:prstGeom prst="rect">
            <a:avLst/>
          </a:prstGeom>
          <a:noFill/>
        </p:spPr>
        <p:txBody>
          <a:bodyPr wrap="square" anchor="t" lIns="45720" rIns="45720">
            <a:spAutoFit/>
          </a:bodyPr>
          <a:lstStyle/>
          <a:p>
            <a:pPr algn="ctr"/>
            <a:r>
              <a:rPr sz="1400" b="0">
                <a:solidFill>
                  <a:srgbClr val="262626"/>
                </a:solidFill>
                <a:latin typeface="Calibri"/>
              </a:rPr>
              <a:t>disponibilidad</a:t>
            </a:r>
          </a:p>
        </p:txBody>
      </p:sp>
      <p:sp>
        <p:nvSpPr>
          <p:cNvPr id="11" name="Rectangle 10"/>
          <p:cNvSpPr/>
          <p:nvPr/>
        </p:nvSpPr>
        <p:spPr>
          <a:xfrm>
            <a:off x="2514600" y="4709160"/>
            <a:ext cx="1783080" cy="14630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4800600"/>
            <a:ext cx="1783080" cy="731520"/>
          </a:xfrm>
          <a:prstGeom prst="rect">
            <a:avLst/>
          </a:prstGeom>
          <a:noFill/>
        </p:spPr>
        <p:txBody>
          <a:bodyPr wrap="square" anchor="t" lIns="45720" rIns="45720">
            <a:spAutoFit/>
          </a:bodyPr>
          <a:lstStyle/>
          <a:p>
            <a:pPr algn="ctr"/>
            <a:r>
              <a:rPr sz="2800" b="1">
                <a:solidFill>
                  <a:srgbClr val="1168BD"/>
                </a:solidFill>
                <a:latin typeface="Calibri"/>
              </a:rPr>
              <a:t>≤ 1 h</a:t>
            </a:r>
          </a:p>
        </p:txBody>
      </p:sp>
      <p:sp>
        <p:nvSpPr>
          <p:cNvPr id="13" name="TextBox 12"/>
          <p:cNvSpPr txBox="1"/>
          <p:nvPr/>
        </p:nvSpPr>
        <p:spPr>
          <a:xfrm>
            <a:off x="2514600" y="5532120"/>
            <a:ext cx="1783080" cy="457200"/>
          </a:xfrm>
          <a:prstGeom prst="rect">
            <a:avLst/>
          </a:prstGeom>
          <a:noFill/>
        </p:spPr>
        <p:txBody>
          <a:bodyPr wrap="square" anchor="t" lIns="45720" rIns="45720">
            <a:spAutoFit/>
          </a:bodyPr>
          <a:lstStyle/>
          <a:p>
            <a:pPr algn="ctr"/>
            <a:r>
              <a:rPr sz="1400" b="0">
                <a:solidFill>
                  <a:srgbClr val="262626"/>
                </a:solidFill>
                <a:latin typeface="Calibri"/>
              </a:rPr>
              <a:t>RTO</a:t>
            </a:r>
          </a:p>
        </p:txBody>
      </p:sp>
      <p:sp>
        <p:nvSpPr>
          <p:cNvPr id="14" name="Rectangle 13"/>
          <p:cNvSpPr/>
          <p:nvPr/>
        </p:nvSpPr>
        <p:spPr>
          <a:xfrm>
            <a:off x="4480559" y="4709160"/>
            <a:ext cx="1783080" cy="146304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4800600"/>
            <a:ext cx="1783080" cy="731520"/>
          </a:xfrm>
          <a:prstGeom prst="rect">
            <a:avLst/>
          </a:prstGeom>
          <a:noFill/>
        </p:spPr>
        <p:txBody>
          <a:bodyPr wrap="square" anchor="t" lIns="45720" rIns="45720">
            <a:spAutoFit/>
          </a:bodyPr>
          <a:lstStyle/>
          <a:p>
            <a:pPr algn="ctr"/>
            <a:r>
              <a:rPr sz="2800" b="1">
                <a:solidFill>
                  <a:srgbClr val="1168BD"/>
                </a:solidFill>
                <a:latin typeface="Calibri"/>
              </a:rPr>
              <a:t>≤ 5 min</a:t>
            </a:r>
          </a:p>
        </p:txBody>
      </p:sp>
      <p:sp>
        <p:nvSpPr>
          <p:cNvPr id="16" name="TextBox 15"/>
          <p:cNvSpPr txBox="1"/>
          <p:nvPr/>
        </p:nvSpPr>
        <p:spPr>
          <a:xfrm>
            <a:off x="4480559" y="5532120"/>
            <a:ext cx="1783080" cy="457200"/>
          </a:xfrm>
          <a:prstGeom prst="rect">
            <a:avLst/>
          </a:prstGeom>
          <a:noFill/>
        </p:spPr>
        <p:txBody>
          <a:bodyPr wrap="square" anchor="t" lIns="45720" rIns="45720">
            <a:spAutoFit/>
          </a:bodyPr>
          <a:lstStyle/>
          <a:p>
            <a:pPr algn="ctr"/>
            <a:r>
              <a:rPr sz="1400" b="0">
                <a:solidFill>
                  <a:srgbClr val="262626"/>
                </a:solidFill>
                <a:latin typeface="Calibri"/>
              </a:rPr>
              <a:t>RPO</a:t>
            </a:r>
          </a:p>
        </p:txBody>
      </p:sp>
      <p:sp>
        <p:nvSpPr>
          <p:cNvPr id="17" name="TextBox 16"/>
          <p:cNvSpPr txBox="1"/>
          <p:nvPr/>
        </p:nvSpPr>
        <p:spPr>
          <a:xfrm>
            <a:off x="6675120" y="1417320"/>
            <a:ext cx="5120640" cy="457200"/>
          </a:xfrm>
          <a:prstGeom prst="rect">
            <a:avLst/>
          </a:prstGeom>
          <a:noFill/>
        </p:spPr>
        <p:txBody>
          <a:bodyPr wrap="square" anchor="t" lIns="45720" rIns="45720">
            <a:spAutoFit/>
          </a:bodyPr>
          <a:lstStyle/>
          <a:p>
            <a:pPr algn="l"/>
            <a:r>
              <a:rPr sz="2000" b="1">
                <a:solidFill>
                  <a:srgbClr val="0B3C5D"/>
                </a:solidFill>
                <a:latin typeface="Calibri"/>
              </a:rPr>
              <a:t>Monitoreo centralizado</a:t>
            </a:r>
          </a:p>
        </p:txBody>
      </p:sp>
      <p:sp>
        <p:nvSpPr>
          <p:cNvPr id="18" name="TextBox 17"/>
          <p:cNvSpPr txBox="1"/>
          <p:nvPr/>
        </p:nvSpPr>
        <p:spPr>
          <a:xfrm>
            <a:off x="6675120" y="1920240"/>
            <a:ext cx="5120640" cy="4389120"/>
          </a:xfrm>
          <a:prstGeom prst="rect">
            <a:avLst/>
          </a:prstGeom>
          <a:noFill/>
        </p:spPr>
        <p:txBody>
          <a:bodyPr wrap="square">
            <a:spAutoFit/>
          </a:bodyPr>
          <a:lstStyle/>
          <a:p>
            <a:pPr>
              <a:spcAft>
                <a:spcPts val="800"/>
              </a:spcAft>
            </a:pPr>
            <a:r>
              <a:rPr b="1" sz="1500">
                <a:solidFill>
                  <a:srgbClr val="0B3C5D"/>
                </a:solidFill>
                <a:latin typeface="Calibri"/>
              </a:rPr>
              <a:t>▸ Log Analytics: </a:t>
            </a:r>
            <a:r>
              <a:rPr sz="1500">
                <a:solidFill>
                  <a:srgbClr val="262626"/>
                </a:solidFill>
                <a:latin typeface="Calibri"/>
              </a:rPr>
              <a:t>logs de todos los servicios en un solo lugar</a:t>
            </a:r>
          </a:p>
          <a:p>
            <a:pPr>
              <a:spcAft>
                <a:spcPts val="800"/>
              </a:spcAft>
            </a:pPr>
            <a:r>
              <a:rPr b="1" sz="1500">
                <a:solidFill>
                  <a:srgbClr val="0B3C5D"/>
                </a:solidFill>
                <a:latin typeface="Calibri"/>
              </a:rPr>
              <a:t>▸ Application Insights: </a:t>
            </a:r>
            <a:r>
              <a:rPr sz="1500">
                <a:solidFill>
                  <a:srgbClr val="262626"/>
                </a:solidFill>
                <a:latin typeface="Calibri"/>
              </a:rPr>
              <a:t>trazas de cada petición de punta a punta</a:t>
            </a:r>
          </a:p>
          <a:p>
            <a:pPr>
              <a:spcAft>
                <a:spcPts val="800"/>
              </a:spcAft>
            </a:pPr>
            <a:r>
              <a:rPr b="1" sz="1500">
                <a:solidFill>
                  <a:srgbClr val="0B3C5D"/>
                </a:solidFill>
                <a:latin typeface="Calibri"/>
              </a:rPr>
              <a:t>▸ Prometheus + Grafana: </a:t>
            </a:r>
            <a:r>
              <a:rPr sz="1500">
                <a:solidFill>
                  <a:srgbClr val="262626"/>
                </a:solidFill>
                <a:latin typeface="Calibri"/>
              </a:rPr>
              <a:t>métricas y tableros de Kubernetes</a:t>
            </a:r>
          </a:p>
          <a:p>
            <a:pPr>
              <a:spcAft>
                <a:spcPts val="800"/>
              </a:spcAft>
            </a:pPr>
            <a:r>
              <a:rPr b="1" sz="1500">
                <a:solidFill>
                  <a:srgbClr val="0B3C5D"/>
                </a:solidFill>
                <a:latin typeface="Calibri"/>
              </a:rPr>
              <a:t>▸ Alertas: </a:t>
            </a:r>
            <a:r>
              <a:rPr sz="1500">
                <a:solidFill>
                  <a:srgbClr val="262626"/>
                </a:solidFill>
                <a:latin typeface="Calibri"/>
              </a:rPr>
              <a:t>caída de región, latencia &gt; 2 s, errores &gt; 2%, remisiones fallidas, presupuesto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Decisiones técnicas</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Cada decisión responde a un requisito</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15</a:t>
            </a:r>
          </a:p>
        </p:txBody>
      </p:sp>
      <p:graphicFrame>
        <p:nvGraphicFramePr>
          <p:cNvPr id="8" name="Table 7"/>
          <p:cNvGraphicFramePr>
            <a:graphicFrameLocks noGrp="1"/>
          </p:cNvGraphicFramePr>
          <p:nvPr/>
        </p:nvGraphicFramePr>
        <p:xfrm>
          <a:off x="548640" y="1463040"/>
          <a:ext cx="11064240" cy="4535424"/>
        </p:xfrm>
        <a:graphic>
          <a:graphicData uri="http://schemas.openxmlformats.org/drawingml/2006/table">
            <a:tbl>
              <a:tblPr firstRow="1" bandRow="1">
                <a:tableStyleId>{5C22544A-7EE6-4342-B048-85BDC9FD1C3A}</a:tableStyleId>
              </a:tblPr>
              <a:tblGrid>
                <a:gridCol w="3931920"/>
                <a:gridCol w="7132320"/>
              </a:tblGrid>
              <a:tr h="566928">
                <a:tc>
                  <a:txBody>
                    <a:bodyPr/>
                    <a:lstStyle/>
                    <a:p>
                      <a:pPr>
                        <a:defRPr sz="1200" b="1">
                          <a:solidFill>
                            <a:srgbClr val="FFFFFF"/>
                          </a:solidFill>
                          <a:latin typeface="Calibri"/>
                        </a:defRPr>
                      </a:pPr>
                      <a:r>
                        <a:t>Decisión</a:t>
                      </a:r>
                    </a:p>
                  </a:txBody>
                  <a:tcPr marL="73152" marR="73152" marT="27432" marB="27432" anchor="ctr">
                    <a:solidFill>
                      <a:srgbClr val="0B3C5D"/>
                    </a:solidFill>
                  </a:tcPr>
                </a:tc>
                <a:tc>
                  <a:txBody>
                    <a:bodyPr/>
                    <a:lstStyle/>
                    <a:p>
                      <a:pPr>
                        <a:defRPr sz="1200" b="1">
                          <a:solidFill>
                            <a:srgbClr val="FFFFFF"/>
                          </a:solidFill>
                          <a:latin typeface="Calibri"/>
                        </a:defRPr>
                      </a:pPr>
                      <a:r>
                        <a:t>Por qué</a:t>
                      </a:r>
                    </a:p>
                  </a:txBody>
                  <a:tcPr marL="73152" marR="73152" marT="27432" marB="27432" anchor="ctr">
                    <a:solidFill>
                      <a:srgbClr val="0B3C5D"/>
                    </a:solidFill>
                  </a:tcPr>
                </a:tc>
              </a:tr>
              <a:tr h="566928">
                <a:tc>
                  <a:txBody>
                    <a:bodyPr/>
                    <a:lstStyle/>
                    <a:p>
                      <a:pPr>
                        <a:defRPr sz="1200">
                          <a:solidFill>
                            <a:srgbClr val="262626"/>
                          </a:solidFill>
                          <a:latin typeface="Calibri"/>
                        </a:defRPr>
                      </a:pPr>
                      <a:r>
                        <a:t>ADR-01 · Microservicios en Azure Kubernetes Service</a:t>
                      </a:r>
                    </a:p>
                  </a:txBody>
                  <a:tcPr marL="73152" marR="73152" marT="27432" marB="27432" anchor="ctr">
                    <a:solidFill>
                      <a:srgbClr val="FFFFFF"/>
                    </a:solidFill>
                  </a:tcPr>
                </a:tc>
                <a:tc>
                  <a:txBody>
                    <a:bodyPr/>
                    <a:lstStyle/>
                    <a:p>
                      <a:pPr>
                        <a:defRPr sz="1200">
                          <a:solidFill>
                            <a:srgbClr val="262626"/>
                          </a:solidFill>
                          <a:latin typeface="Calibri"/>
                        </a:defRPr>
                      </a:pPr>
                      <a:r>
                        <a:t>Permite escalar el triaje sin escalar el resto, despliegues independientes y aislamiento de fallos. Costo: mayor complejidad operativa, mitigada con AKS administrado.</a:t>
                      </a:r>
                    </a:p>
                  </a:txBody>
                  <a:tcPr marL="73152" marR="73152" marT="27432" marB="27432" anchor="ctr">
                    <a:solidFill>
                      <a:srgbClr val="FFFFFF"/>
                    </a:solidFill>
                  </a:tcPr>
                </a:tc>
              </a:tr>
              <a:tr h="566928">
                <a:tc>
                  <a:txBody>
                    <a:bodyPr/>
                    <a:lstStyle/>
                    <a:p>
                      <a:pPr>
                        <a:defRPr sz="1200">
                          <a:solidFill>
                            <a:srgbClr val="262626"/>
                          </a:solidFill>
                          <a:latin typeface="Calibri"/>
                        </a:defRPr>
                      </a:pPr>
                      <a:r>
                        <a:t>ADR-02 · Aplicación web responsiva + Electron</a:t>
                      </a:r>
                    </a:p>
                  </a:txBody>
                  <a:tcPr marL="73152" marR="73152" marT="27432" marB="27432" anchor="ctr">
                    <a:solidFill>
                      <a:srgbClr val="EAF2FB"/>
                    </a:solidFill>
                  </a:tcPr>
                </a:tc>
                <a:tc>
                  <a:txBody>
                    <a:bodyPr/>
                    <a:lstStyle/>
                    <a:p>
                      <a:pPr>
                        <a:defRPr sz="1200">
                          <a:solidFill>
                            <a:srgbClr val="262626"/>
                          </a:solidFill>
                          <a:latin typeface="Calibri"/>
                        </a:defRPr>
                      </a:pPr>
                      <a:r>
                        <a:t>Cumple la compatibilidad multiplataforma sin mantener tres aplicaciones; el canal de pacientes en fase 2 reutiliza componentes.</a:t>
                      </a:r>
                    </a:p>
                  </a:txBody>
                  <a:tcPr marL="73152" marR="73152" marT="27432" marB="27432" anchor="ctr">
                    <a:solidFill>
                      <a:srgbClr val="EAF2FB"/>
                    </a:solidFill>
                  </a:tcPr>
                </a:tc>
              </a:tr>
              <a:tr h="566928">
                <a:tc>
                  <a:txBody>
                    <a:bodyPr/>
                    <a:lstStyle/>
                    <a:p>
                      <a:pPr>
                        <a:defRPr sz="1200">
                          <a:solidFill>
                            <a:srgbClr val="262626"/>
                          </a:solidFill>
                          <a:latin typeface="Calibri"/>
                        </a:defRPr>
                      </a:pPr>
                      <a:r>
                        <a:t>ADR-03 · Autenticación OIDC federada con Microsoft Entra ID</a:t>
                      </a:r>
                    </a:p>
                  </a:txBody>
                  <a:tcPr marL="73152" marR="73152" marT="27432" marB="27432" anchor="ctr">
                    <a:solidFill>
                      <a:srgbClr val="FFFFFF"/>
                    </a:solidFill>
                  </a:tcPr>
                </a:tc>
                <a:tc>
                  <a:txBody>
                    <a:bodyPr/>
                    <a:lstStyle/>
                    <a:p>
                      <a:pPr>
                        <a:defRPr sz="1200">
                          <a:solidFill>
                            <a:srgbClr val="262626"/>
                          </a:solidFill>
                          <a:latin typeface="Calibri"/>
                        </a:defRPr>
                      </a:pPr>
                      <a:r>
                        <a:t>Estándar abierto (OpenID Connect + OAuth 2.0 con PKCE), MFA y Acceso Condicional sin almacenar contraseñas en la aplicación.</a:t>
                      </a:r>
                    </a:p>
                  </a:txBody>
                  <a:tcPr marL="73152" marR="73152" marT="27432" marB="27432" anchor="ctr">
                    <a:solidFill>
                      <a:srgbClr val="FFFFFF"/>
                    </a:solidFill>
                  </a:tcPr>
                </a:tc>
              </a:tr>
              <a:tr h="566928">
                <a:tc>
                  <a:txBody>
                    <a:bodyPr/>
                    <a:lstStyle/>
                    <a:p>
                      <a:pPr>
                        <a:defRPr sz="1200">
                          <a:solidFill>
                            <a:srgbClr val="262626"/>
                          </a:solidFill>
                          <a:latin typeface="Calibri"/>
                        </a:defRPr>
                      </a:pPr>
                      <a:r>
                        <a:t>ADR-04 · Repositorio clínico en HL7 FHIR</a:t>
                      </a:r>
                    </a:p>
                  </a:txBody>
                  <a:tcPr marL="73152" marR="73152" marT="27432" marB="27432" anchor="ctr">
                    <a:solidFill>
                      <a:srgbClr val="EAF2FB"/>
                    </a:solidFill>
                  </a:tcPr>
                </a:tc>
                <a:tc>
                  <a:txBody>
                    <a:bodyPr/>
                    <a:lstStyle/>
                    <a:p>
                      <a:pPr>
                        <a:defRPr sz="1200">
                          <a:solidFill>
                            <a:srgbClr val="262626"/>
                          </a:solidFill>
                          <a:latin typeface="Calibri"/>
                        </a:defRPr>
                      </a:pPr>
                      <a:r>
                        <a:t>Interoperabilidad con sistemas hospitalarios, modelo de datos estándar y cumplimiento de salud administrado por Azure.</a:t>
                      </a:r>
                    </a:p>
                  </a:txBody>
                  <a:tcPr marL="73152" marR="73152" marT="27432" marB="27432" anchor="ctr">
                    <a:solidFill>
                      <a:srgbClr val="EAF2FB"/>
                    </a:solidFill>
                  </a:tcPr>
                </a:tc>
              </a:tr>
              <a:tr h="566928">
                <a:tc>
                  <a:txBody>
                    <a:bodyPr/>
                    <a:lstStyle/>
                    <a:p>
                      <a:pPr>
                        <a:defRPr sz="1200">
                          <a:solidFill>
                            <a:srgbClr val="262626"/>
                          </a:solidFill>
                          <a:latin typeface="Calibri"/>
                        </a:defRPr>
                      </a:pPr>
                      <a:r>
                        <a:t>ADR-05 · Comunicación asíncrona por eventos</a:t>
                      </a:r>
                    </a:p>
                  </a:txBody>
                  <a:tcPr marL="73152" marR="73152" marT="27432" marB="27432" anchor="ctr">
                    <a:solidFill>
                      <a:srgbClr val="FFFFFF"/>
                    </a:solidFill>
                  </a:tcPr>
                </a:tc>
                <a:tc>
                  <a:txBody>
                    <a:bodyPr/>
                    <a:lstStyle/>
                    <a:p>
                      <a:pPr>
                        <a:defRPr sz="1200">
                          <a:solidFill>
                            <a:srgbClr val="262626"/>
                          </a:solidFill>
                          <a:latin typeface="Calibri"/>
                        </a:defRPr>
                      </a:pPr>
                      <a:r>
                        <a:t>Desacopla servicios, permite reintentos y evita perder avisos si el centro médico o el proveedor de SMS no responde.</a:t>
                      </a:r>
                    </a:p>
                  </a:txBody>
                  <a:tcPr marL="73152" marR="73152" marT="27432" marB="27432" anchor="ctr">
                    <a:solidFill>
                      <a:srgbClr val="FFFFFF"/>
                    </a:solidFill>
                  </a:tcPr>
                </a:tc>
              </a:tr>
              <a:tr h="566928">
                <a:tc>
                  <a:txBody>
                    <a:bodyPr/>
                    <a:lstStyle/>
                    <a:p>
                      <a:pPr>
                        <a:defRPr sz="1200">
                          <a:solidFill>
                            <a:srgbClr val="262626"/>
                          </a:solidFill>
                          <a:latin typeface="Calibri"/>
                        </a:defRPr>
                      </a:pPr>
                      <a:r>
                        <a:t>ADR-06 · Alta disponibilidad activo/pasivo en dos regiones</a:t>
                      </a:r>
                    </a:p>
                  </a:txBody>
                  <a:tcPr marL="73152" marR="73152" marT="27432" marB="27432" anchor="ctr">
                    <a:solidFill>
                      <a:srgbClr val="EAF2FB"/>
                    </a:solidFill>
                  </a:tcPr>
                </a:tc>
                <a:tc>
                  <a:txBody>
                    <a:bodyPr/>
                    <a:lstStyle/>
                    <a:p>
                      <a:pPr>
                        <a:defRPr sz="1200">
                          <a:solidFill>
                            <a:srgbClr val="262626"/>
                          </a:solidFill>
                          <a:latin typeface="Calibri"/>
                        </a:defRPr>
                      </a:pPr>
                      <a:r>
                        <a:t>Balance entre costo y resiliencia: un activo/activo duplicaría el cómputo y la base de datos.</a:t>
                      </a:r>
                    </a:p>
                  </a:txBody>
                  <a:tcPr marL="73152" marR="73152" marT="27432" marB="27432" anchor="ctr">
                    <a:solidFill>
                      <a:srgbClr val="EAF2FB"/>
                    </a:solidFill>
                  </a:tcPr>
                </a:tc>
              </a:tr>
              <a:tr h="566928">
                <a:tc>
                  <a:txBody>
                    <a:bodyPr/>
                    <a:lstStyle/>
                    <a:p>
                      <a:pPr>
                        <a:defRPr sz="1200">
                          <a:solidFill>
                            <a:srgbClr val="262626"/>
                          </a:solidFill>
                          <a:latin typeface="Calibri"/>
                        </a:defRPr>
                      </a:pPr>
                      <a:r>
                        <a:t>ADR-07 · Asistente de diagnóstico con supervisión humana</a:t>
                      </a:r>
                    </a:p>
                  </a:txBody>
                  <a:tcPr marL="73152" marR="73152" marT="27432" marB="27432" anchor="ctr">
                    <a:solidFill>
                      <a:srgbClr val="FFFFFF"/>
                    </a:solidFill>
                  </a:tcPr>
                </a:tc>
                <a:tc>
                  <a:txBody>
                    <a:bodyPr/>
                    <a:lstStyle/>
                    <a:p>
                      <a:pPr>
                        <a:defRPr sz="1200">
                          <a:solidFill>
                            <a:srgbClr val="262626"/>
                          </a:solidFill>
                          <a:latin typeface="Calibri"/>
                        </a:defRPr>
                      </a:pPr>
                      <a:r>
                        <a:t>Reduce el riesgo clínico, mantiene trazabilidad y evita enviar datos personales al modelo.</a:t>
                      </a:r>
                    </a:p>
                  </a:txBody>
                  <a:tcPr marL="73152" marR="73152" marT="27432" marB="27432"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¿Por qué Microsoft Azure?</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Matriz de decisión ponderada: Azure vs AWS</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16</a:t>
            </a:r>
          </a:p>
        </p:txBody>
      </p:sp>
      <p:graphicFrame>
        <p:nvGraphicFramePr>
          <p:cNvPr id="8" name="Table 7"/>
          <p:cNvGraphicFramePr>
            <a:graphicFrameLocks noGrp="1"/>
          </p:cNvGraphicFramePr>
          <p:nvPr/>
        </p:nvGraphicFramePr>
        <p:xfrm>
          <a:off x="548640" y="1463040"/>
          <a:ext cx="6949440" cy="4114800"/>
        </p:xfrm>
        <a:graphic>
          <a:graphicData uri="http://schemas.openxmlformats.org/drawingml/2006/table">
            <a:tbl>
              <a:tblPr firstRow="1" bandRow="1">
                <a:tableStyleId>{5C22544A-7EE6-4342-B048-85BDC9FD1C3A}</a:tableStyleId>
              </a:tblPr>
              <a:tblGrid>
                <a:gridCol w="4206240"/>
                <a:gridCol w="914400"/>
                <a:gridCol w="914400"/>
                <a:gridCol w="914400"/>
              </a:tblGrid>
              <a:tr h="457200">
                <a:tc>
                  <a:txBody>
                    <a:bodyPr/>
                    <a:lstStyle/>
                    <a:p>
                      <a:pPr>
                        <a:defRPr sz="1300" b="1">
                          <a:solidFill>
                            <a:srgbClr val="FFFFFF"/>
                          </a:solidFill>
                          <a:latin typeface="Calibri"/>
                        </a:defRPr>
                      </a:pPr>
                      <a:r>
                        <a:t>Criterio</a:t>
                      </a:r>
                    </a:p>
                  </a:txBody>
                  <a:tcPr marL="73152" marR="73152" marT="27432" marB="27432" anchor="ctr">
                    <a:solidFill>
                      <a:srgbClr val="0B3C5D"/>
                    </a:solidFill>
                  </a:tcPr>
                </a:tc>
                <a:tc>
                  <a:txBody>
                    <a:bodyPr/>
                    <a:lstStyle/>
                    <a:p>
                      <a:pPr>
                        <a:defRPr sz="1300" b="1">
                          <a:solidFill>
                            <a:srgbClr val="FFFFFF"/>
                          </a:solidFill>
                          <a:latin typeface="Calibri"/>
                        </a:defRPr>
                      </a:pPr>
                      <a:r>
                        <a:t>Peso</a:t>
                      </a:r>
                    </a:p>
                  </a:txBody>
                  <a:tcPr marL="73152" marR="73152" marT="27432" marB="27432" anchor="ctr">
                    <a:solidFill>
                      <a:srgbClr val="0B3C5D"/>
                    </a:solidFill>
                  </a:tcPr>
                </a:tc>
                <a:tc>
                  <a:txBody>
                    <a:bodyPr/>
                    <a:lstStyle/>
                    <a:p>
                      <a:pPr>
                        <a:defRPr sz="1300" b="1">
                          <a:solidFill>
                            <a:srgbClr val="FFFFFF"/>
                          </a:solidFill>
                          <a:latin typeface="Calibri"/>
                        </a:defRPr>
                      </a:pPr>
                      <a:r>
                        <a:t>Azure</a:t>
                      </a:r>
                    </a:p>
                  </a:txBody>
                  <a:tcPr marL="73152" marR="73152" marT="27432" marB="27432" anchor="ctr">
                    <a:solidFill>
                      <a:srgbClr val="0B3C5D"/>
                    </a:solidFill>
                  </a:tcPr>
                </a:tc>
                <a:tc>
                  <a:txBody>
                    <a:bodyPr/>
                    <a:lstStyle/>
                    <a:p>
                      <a:pPr>
                        <a:defRPr sz="1300" b="1">
                          <a:solidFill>
                            <a:srgbClr val="FFFFFF"/>
                          </a:solidFill>
                          <a:latin typeface="Calibri"/>
                        </a:defRPr>
                      </a:pPr>
                      <a:r>
                        <a:t>AWS</a:t>
                      </a:r>
                    </a:p>
                  </a:txBody>
                  <a:tcPr marL="73152" marR="73152" marT="27432" marB="27432" anchor="ctr">
                    <a:solidFill>
                      <a:srgbClr val="0B3C5D"/>
                    </a:solidFill>
                  </a:tcPr>
                </a:tc>
              </a:tr>
              <a:tr h="457200">
                <a:tc>
                  <a:txBody>
                    <a:bodyPr/>
                    <a:lstStyle/>
                    <a:p>
                      <a:pPr>
                        <a:defRPr sz="1300">
                          <a:solidFill>
                            <a:srgbClr val="262626"/>
                          </a:solidFill>
                          <a:latin typeface="Calibri"/>
                        </a:defRPr>
                      </a:pPr>
                      <a:r>
                        <a:t>Costo total y opciones de ahorro</a:t>
                      </a:r>
                    </a:p>
                  </a:txBody>
                  <a:tcPr marL="73152" marR="73152" marT="27432" marB="27432" anchor="ctr">
                    <a:solidFill>
                      <a:srgbClr val="FFFFFF"/>
                    </a:solidFill>
                  </a:tcPr>
                </a:tc>
                <a:tc>
                  <a:txBody>
                    <a:bodyPr/>
                    <a:lstStyle/>
                    <a:p>
                      <a:pPr>
                        <a:defRPr sz="1300">
                          <a:solidFill>
                            <a:srgbClr val="262626"/>
                          </a:solidFill>
                          <a:latin typeface="Calibri"/>
                        </a:defRPr>
                      </a:pPr>
                      <a:r>
                        <a:t>20%</a:t>
                      </a:r>
                    </a:p>
                  </a:txBody>
                  <a:tcPr marL="73152" marR="73152" marT="27432" marB="27432" anchor="ctr">
                    <a:solidFill>
                      <a:srgbClr val="FFFFFF"/>
                    </a:solidFill>
                  </a:tcPr>
                </a:tc>
                <a:tc>
                  <a:txBody>
                    <a:bodyPr/>
                    <a:lstStyle/>
                    <a:p>
                      <a:pPr>
                        <a:defRPr sz="1300">
                          <a:solidFill>
                            <a:srgbClr val="262626"/>
                          </a:solidFill>
                          <a:latin typeface="Calibri"/>
                        </a:defRPr>
                      </a:pPr>
                      <a:r>
                        <a:t>3</a:t>
                      </a:r>
                    </a:p>
                  </a:txBody>
                  <a:tcPr marL="73152" marR="73152" marT="27432" marB="27432" anchor="ctr">
                    <a:solidFill>
                      <a:srgbClr val="FFFFFF"/>
                    </a:solidFill>
                  </a:tcPr>
                </a:tc>
                <a:tc>
                  <a:txBody>
                    <a:bodyPr/>
                    <a:lstStyle/>
                    <a:p>
                      <a:pPr>
                        <a:defRPr sz="1300">
                          <a:solidFill>
                            <a:srgbClr val="262626"/>
                          </a:solidFill>
                          <a:latin typeface="Calibri"/>
                        </a:defRPr>
                      </a:pPr>
                      <a:r>
                        <a:t>4</a:t>
                      </a:r>
                    </a:p>
                  </a:txBody>
                  <a:tcPr marL="73152" marR="73152" marT="27432" marB="27432" anchor="ctr">
                    <a:solidFill>
                      <a:srgbClr val="FFFFFF"/>
                    </a:solidFill>
                  </a:tcPr>
                </a:tc>
              </a:tr>
              <a:tr h="457200">
                <a:tc>
                  <a:txBody>
                    <a:bodyPr/>
                    <a:lstStyle/>
                    <a:p>
                      <a:pPr>
                        <a:defRPr sz="1300">
                          <a:solidFill>
                            <a:srgbClr val="262626"/>
                          </a:solidFill>
                          <a:latin typeface="Calibri"/>
                        </a:defRPr>
                      </a:pPr>
                      <a:r>
                        <a:t>Integración con el sistema de seguridad centralizado</a:t>
                      </a:r>
                    </a:p>
                  </a:txBody>
                  <a:tcPr marL="73152" marR="73152" marT="27432" marB="27432" anchor="ctr">
                    <a:solidFill>
                      <a:srgbClr val="EAF2FB"/>
                    </a:solidFill>
                  </a:tcPr>
                </a:tc>
                <a:tc>
                  <a:txBody>
                    <a:bodyPr/>
                    <a:lstStyle/>
                    <a:p>
                      <a:pPr>
                        <a:defRPr sz="1300">
                          <a:solidFill>
                            <a:srgbClr val="262626"/>
                          </a:solidFill>
                          <a:latin typeface="Calibri"/>
                        </a:defRPr>
                      </a:pPr>
                      <a:r>
                        <a:t>20%</a:t>
                      </a:r>
                    </a:p>
                  </a:txBody>
                  <a:tcPr marL="73152" marR="73152" marT="27432" marB="27432" anchor="ctr">
                    <a:solidFill>
                      <a:srgbClr val="EAF2FB"/>
                    </a:solidFill>
                  </a:tcPr>
                </a:tc>
                <a:tc>
                  <a:txBody>
                    <a:bodyPr/>
                    <a:lstStyle/>
                    <a:p>
                      <a:pPr>
                        <a:defRPr sz="1300">
                          <a:solidFill>
                            <a:srgbClr val="262626"/>
                          </a:solidFill>
                          <a:latin typeface="Calibri"/>
                        </a:defRPr>
                      </a:pPr>
                      <a:r>
                        <a:t>5</a:t>
                      </a:r>
                    </a:p>
                  </a:txBody>
                  <a:tcPr marL="73152" marR="73152" marT="27432" marB="27432" anchor="ctr">
                    <a:solidFill>
                      <a:srgbClr val="EAF2FB"/>
                    </a:solidFill>
                  </a:tcPr>
                </a:tc>
                <a:tc>
                  <a:txBody>
                    <a:bodyPr/>
                    <a:lstStyle/>
                    <a:p>
                      <a:pPr>
                        <a:defRPr sz="1300">
                          <a:solidFill>
                            <a:srgbClr val="262626"/>
                          </a:solidFill>
                          <a:latin typeface="Calibri"/>
                        </a:defRPr>
                      </a:pPr>
                      <a:r>
                        <a:t>4</a:t>
                      </a:r>
                    </a:p>
                  </a:txBody>
                  <a:tcPr marL="73152" marR="73152" marT="27432" marB="27432" anchor="ctr">
                    <a:solidFill>
                      <a:srgbClr val="EAF2FB"/>
                    </a:solidFill>
                  </a:tcPr>
                </a:tc>
              </a:tr>
              <a:tr h="457200">
                <a:tc>
                  <a:txBody>
                    <a:bodyPr/>
                    <a:lstStyle/>
                    <a:p>
                      <a:pPr>
                        <a:defRPr sz="1300">
                          <a:solidFill>
                            <a:srgbClr val="262626"/>
                          </a:solidFill>
                          <a:latin typeface="Calibri"/>
                        </a:defRPr>
                      </a:pPr>
                      <a:r>
                        <a:t>Seguridad y cumplimiento normativo (salud)</a:t>
                      </a:r>
                    </a:p>
                  </a:txBody>
                  <a:tcPr marL="73152" marR="73152" marT="27432" marB="27432" anchor="ctr">
                    <a:solidFill>
                      <a:srgbClr val="FFFFFF"/>
                    </a:solidFill>
                  </a:tcPr>
                </a:tc>
                <a:tc>
                  <a:txBody>
                    <a:bodyPr/>
                    <a:lstStyle/>
                    <a:p>
                      <a:pPr>
                        <a:defRPr sz="1300">
                          <a:solidFill>
                            <a:srgbClr val="262626"/>
                          </a:solidFill>
                          <a:latin typeface="Calibri"/>
                        </a:defRPr>
                      </a:pPr>
                      <a:r>
                        <a:t>20%</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r>
              <a:tr h="457200">
                <a:tc>
                  <a:txBody>
                    <a:bodyPr/>
                    <a:lstStyle/>
                    <a:p>
                      <a:pPr>
                        <a:defRPr sz="1300">
                          <a:solidFill>
                            <a:srgbClr val="262626"/>
                          </a:solidFill>
                          <a:latin typeface="Calibri"/>
                        </a:defRPr>
                      </a:pPr>
                      <a:r>
                        <a:t>Servicios de salud e IA</a:t>
                      </a:r>
                    </a:p>
                  </a:txBody>
                  <a:tcPr marL="73152" marR="73152" marT="27432" marB="27432" anchor="ctr">
                    <a:solidFill>
                      <a:srgbClr val="EAF2FB"/>
                    </a:solidFill>
                  </a:tcPr>
                </a:tc>
                <a:tc>
                  <a:txBody>
                    <a:bodyPr/>
                    <a:lstStyle/>
                    <a:p>
                      <a:pPr>
                        <a:defRPr sz="1300">
                          <a:solidFill>
                            <a:srgbClr val="262626"/>
                          </a:solidFill>
                          <a:latin typeface="Calibri"/>
                        </a:defRPr>
                      </a:pPr>
                      <a:r>
                        <a:t>15%</a:t>
                      </a:r>
                    </a:p>
                  </a:txBody>
                  <a:tcPr marL="73152" marR="73152" marT="27432" marB="27432" anchor="ctr">
                    <a:solidFill>
                      <a:srgbClr val="EAF2FB"/>
                    </a:solidFill>
                  </a:tcPr>
                </a:tc>
                <a:tc>
                  <a:txBody>
                    <a:bodyPr/>
                    <a:lstStyle/>
                    <a:p>
                      <a:pPr>
                        <a:defRPr sz="1300">
                          <a:solidFill>
                            <a:srgbClr val="262626"/>
                          </a:solidFill>
                          <a:latin typeface="Calibri"/>
                        </a:defRPr>
                      </a:pPr>
                      <a:r>
                        <a:t>5</a:t>
                      </a:r>
                    </a:p>
                  </a:txBody>
                  <a:tcPr marL="73152" marR="73152" marT="27432" marB="27432" anchor="ctr">
                    <a:solidFill>
                      <a:srgbClr val="EAF2FB"/>
                    </a:solidFill>
                  </a:tcPr>
                </a:tc>
                <a:tc>
                  <a:txBody>
                    <a:bodyPr/>
                    <a:lstStyle/>
                    <a:p>
                      <a:pPr>
                        <a:defRPr sz="1300">
                          <a:solidFill>
                            <a:srgbClr val="262626"/>
                          </a:solidFill>
                          <a:latin typeface="Calibri"/>
                        </a:defRPr>
                      </a:pPr>
                      <a:r>
                        <a:t>4</a:t>
                      </a:r>
                    </a:p>
                  </a:txBody>
                  <a:tcPr marL="73152" marR="73152" marT="27432" marB="27432" anchor="ctr">
                    <a:solidFill>
                      <a:srgbClr val="EAF2FB"/>
                    </a:solidFill>
                  </a:tcPr>
                </a:tc>
              </a:tr>
              <a:tr h="457200">
                <a:tc>
                  <a:txBody>
                    <a:bodyPr/>
                    <a:lstStyle/>
                    <a:p>
                      <a:pPr>
                        <a:defRPr sz="1300">
                          <a:solidFill>
                            <a:srgbClr val="262626"/>
                          </a:solidFill>
                          <a:latin typeface="Calibri"/>
                        </a:defRPr>
                      </a:pPr>
                      <a:r>
                        <a:t>Escalabilidad y alta disponibilidad</a:t>
                      </a:r>
                    </a:p>
                  </a:txBody>
                  <a:tcPr marL="73152" marR="73152" marT="27432" marB="27432" anchor="ctr">
                    <a:solidFill>
                      <a:srgbClr val="FFFFFF"/>
                    </a:solidFill>
                  </a:tcPr>
                </a:tc>
                <a:tc>
                  <a:txBody>
                    <a:bodyPr/>
                    <a:lstStyle/>
                    <a:p>
                      <a:pPr>
                        <a:defRPr sz="1300">
                          <a:solidFill>
                            <a:srgbClr val="262626"/>
                          </a:solidFill>
                          <a:latin typeface="Calibri"/>
                        </a:defRPr>
                      </a:pPr>
                      <a:r>
                        <a:t>10%</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r>
              <a:tr h="457200">
                <a:tc>
                  <a:txBody>
                    <a:bodyPr/>
                    <a:lstStyle/>
                    <a:p>
                      <a:pPr>
                        <a:defRPr sz="1300">
                          <a:solidFill>
                            <a:srgbClr val="262626"/>
                          </a:solidFill>
                          <a:latin typeface="Calibri"/>
                        </a:defRPr>
                      </a:pPr>
                      <a:r>
                        <a:t>Compatibilidad con las tecnologías elegidas</a:t>
                      </a:r>
                    </a:p>
                  </a:txBody>
                  <a:tcPr marL="73152" marR="73152" marT="27432" marB="27432" anchor="ctr">
                    <a:solidFill>
                      <a:srgbClr val="EAF2FB"/>
                    </a:solidFill>
                  </a:tcPr>
                </a:tc>
                <a:tc>
                  <a:txBody>
                    <a:bodyPr/>
                    <a:lstStyle/>
                    <a:p>
                      <a:pPr>
                        <a:defRPr sz="1300">
                          <a:solidFill>
                            <a:srgbClr val="262626"/>
                          </a:solidFill>
                          <a:latin typeface="Calibri"/>
                        </a:defRPr>
                      </a:pPr>
                      <a:r>
                        <a:t>10%</a:t>
                      </a:r>
                    </a:p>
                  </a:txBody>
                  <a:tcPr marL="73152" marR="73152" marT="27432" marB="27432" anchor="ctr">
                    <a:solidFill>
                      <a:srgbClr val="EAF2FB"/>
                    </a:solidFill>
                  </a:tcPr>
                </a:tc>
                <a:tc>
                  <a:txBody>
                    <a:bodyPr/>
                    <a:lstStyle/>
                    <a:p>
                      <a:pPr>
                        <a:defRPr sz="1300">
                          <a:solidFill>
                            <a:srgbClr val="262626"/>
                          </a:solidFill>
                          <a:latin typeface="Calibri"/>
                        </a:defRPr>
                      </a:pPr>
                      <a:r>
                        <a:t>5</a:t>
                      </a:r>
                    </a:p>
                  </a:txBody>
                  <a:tcPr marL="73152" marR="73152" marT="27432" marB="27432" anchor="ctr">
                    <a:solidFill>
                      <a:srgbClr val="EAF2FB"/>
                    </a:solidFill>
                  </a:tcPr>
                </a:tc>
                <a:tc>
                  <a:txBody>
                    <a:bodyPr/>
                    <a:lstStyle/>
                    <a:p>
                      <a:pPr>
                        <a:defRPr sz="1300">
                          <a:solidFill>
                            <a:srgbClr val="262626"/>
                          </a:solidFill>
                          <a:latin typeface="Calibri"/>
                        </a:defRPr>
                      </a:pPr>
                      <a:r>
                        <a:t>4</a:t>
                      </a:r>
                    </a:p>
                  </a:txBody>
                  <a:tcPr marL="73152" marR="73152" marT="27432" marB="27432" anchor="ctr">
                    <a:solidFill>
                      <a:srgbClr val="EAF2FB"/>
                    </a:solidFill>
                  </a:tcPr>
                </a:tc>
              </a:tr>
              <a:tr h="457200">
                <a:tc>
                  <a:txBody>
                    <a:bodyPr/>
                    <a:lstStyle/>
                    <a:p>
                      <a:pPr>
                        <a:defRPr sz="1300">
                          <a:solidFill>
                            <a:srgbClr val="262626"/>
                          </a:solidFill>
                          <a:latin typeface="Calibri"/>
                        </a:defRPr>
                      </a:pPr>
                      <a:r>
                        <a:t>Servicios adicionales y ecosistema</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c>
                  <a:txBody>
                    <a:bodyPr/>
                    <a:lstStyle/>
                    <a:p>
                      <a:pPr>
                        <a:defRPr sz="1300">
                          <a:solidFill>
                            <a:srgbClr val="262626"/>
                          </a:solidFill>
                          <a:latin typeface="Calibri"/>
                        </a:defRPr>
                      </a:pPr>
                      <a:r>
                        <a:t>5</a:t>
                      </a:r>
                    </a:p>
                  </a:txBody>
                  <a:tcPr marL="73152" marR="73152" marT="27432" marB="27432" anchor="ctr">
                    <a:solidFill>
                      <a:srgbClr val="FFFFFF"/>
                    </a:solidFill>
                  </a:tcPr>
                </a:tc>
                <a:tc>
                  <a:txBody>
                    <a:bodyPr/>
                    <a:lstStyle/>
                    <a:p>
                      <a:pPr>
                        <a:defRPr sz="1300">
                          <a:solidFill>
                            <a:srgbClr val="262626"/>
                          </a:solidFill>
                          <a:latin typeface="Calibri"/>
                        </a:defRPr>
                      </a:pPr>
                      <a:r>
                        <a:t>4</a:t>
                      </a:r>
                    </a:p>
                  </a:txBody>
                  <a:tcPr marL="73152" marR="73152" marT="27432" marB="27432" anchor="ctr">
                    <a:solidFill>
                      <a:srgbClr val="FFFFFF"/>
                    </a:solidFill>
                  </a:tcPr>
                </a:tc>
              </a:tr>
              <a:tr h="457200">
                <a:tc>
                  <a:txBody>
                    <a:bodyPr/>
                    <a:lstStyle/>
                    <a:p>
                      <a:pPr>
                        <a:defRPr sz="1300" b="1">
                          <a:solidFill>
                            <a:srgbClr val="0B3C5D"/>
                          </a:solidFill>
                          <a:latin typeface="Calibri"/>
                        </a:defRPr>
                      </a:pPr>
                      <a:r>
                        <a:t>Puntaje ponderado</a:t>
                      </a:r>
                    </a:p>
                  </a:txBody>
                  <a:tcPr marL="73152" marR="73152" marT="27432" marB="27432" anchor="ctr">
                    <a:solidFill>
                      <a:srgbClr val="D6E6F5"/>
                    </a:solidFill>
                  </a:tcPr>
                </a:tc>
                <a:tc>
                  <a:txBody>
                    <a:bodyPr/>
                    <a:lstStyle/>
                    <a:p>
                      <a:pPr>
                        <a:defRPr sz="1300" b="1">
                          <a:solidFill>
                            <a:srgbClr val="0B3C5D"/>
                          </a:solidFill>
                          <a:latin typeface="Calibri"/>
                        </a:defRPr>
                      </a:pPr>
                      <a:r>
                        <a:t>100%</a:t>
                      </a:r>
                    </a:p>
                  </a:txBody>
                  <a:tcPr marL="73152" marR="73152" marT="27432" marB="27432" anchor="ctr">
                    <a:solidFill>
                      <a:srgbClr val="D6E6F5"/>
                    </a:solidFill>
                  </a:tcPr>
                </a:tc>
                <a:tc>
                  <a:txBody>
                    <a:bodyPr/>
                    <a:lstStyle/>
                    <a:p>
                      <a:pPr>
                        <a:defRPr sz="1300" b="1">
                          <a:solidFill>
                            <a:srgbClr val="0B3C5D"/>
                          </a:solidFill>
                          <a:latin typeface="Calibri"/>
                        </a:defRPr>
                      </a:pPr>
                      <a:r>
                        <a:t>4,60</a:t>
                      </a:r>
                    </a:p>
                  </a:txBody>
                  <a:tcPr marL="73152" marR="73152" marT="27432" marB="27432" anchor="ctr">
                    <a:solidFill>
                      <a:srgbClr val="D6E6F5"/>
                    </a:solidFill>
                  </a:tcPr>
                </a:tc>
                <a:tc>
                  <a:txBody>
                    <a:bodyPr/>
                    <a:lstStyle/>
                    <a:p>
                      <a:pPr>
                        <a:defRPr sz="1300" b="1">
                          <a:solidFill>
                            <a:srgbClr val="0B3C5D"/>
                          </a:solidFill>
                          <a:latin typeface="Calibri"/>
                        </a:defRPr>
                      </a:pPr>
                      <a:r>
                        <a:t>4,30</a:t>
                      </a:r>
                    </a:p>
                  </a:txBody>
                  <a:tcPr marL="73152" marR="73152" marT="27432" marB="27432" anchor="ctr">
                    <a:solidFill>
                      <a:srgbClr val="D6E6F5"/>
                    </a:solidFill>
                  </a:tcPr>
                </a:tc>
              </a:tr>
            </a:tbl>
          </a:graphicData>
        </a:graphic>
      </p:graphicFrame>
      <p:sp>
        <p:nvSpPr>
          <p:cNvPr id="9" name="Rectangle 8"/>
          <p:cNvSpPr/>
          <p:nvPr/>
        </p:nvSpPr>
        <p:spPr>
          <a:xfrm>
            <a:off x="7863840" y="1463040"/>
            <a:ext cx="3840480" cy="452628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00200"/>
            <a:ext cx="3566160" cy="457200"/>
          </a:xfrm>
          <a:prstGeom prst="rect">
            <a:avLst/>
          </a:prstGeom>
          <a:noFill/>
        </p:spPr>
        <p:txBody>
          <a:bodyPr wrap="square" anchor="t" lIns="45720" rIns="45720">
            <a:spAutoFit/>
          </a:bodyPr>
          <a:lstStyle/>
          <a:p>
            <a:pPr algn="l"/>
            <a:r>
              <a:rPr sz="2000" b="1">
                <a:solidFill>
                  <a:srgbClr val="0B3C5D"/>
                </a:solidFill>
                <a:latin typeface="Calibri"/>
              </a:rPr>
              <a:t>Resultado</a:t>
            </a:r>
          </a:p>
        </p:txBody>
      </p:sp>
      <p:sp>
        <p:nvSpPr>
          <p:cNvPr id="11" name="TextBox 10"/>
          <p:cNvSpPr txBox="1"/>
          <p:nvPr/>
        </p:nvSpPr>
        <p:spPr>
          <a:xfrm>
            <a:off x="8046720" y="2103120"/>
            <a:ext cx="3566160" cy="822960"/>
          </a:xfrm>
          <a:prstGeom prst="rect">
            <a:avLst/>
          </a:prstGeom>
          <a:noFill/>
        </p:spPr>
        <p:txBody>
          <a:bodyPr wrap="square" anchor="t" lIns="45720" rIns="45720">
            <a:spAutoFit/>
          </a:bodyPr>
          <a:lstStyle/>
          <a:p>
            <a:pPr algn="l"/>
            <a:r>
              <a:rPr sz="2400" b="1">
                <a:solidFill>
                  <a:srgbClr val="1168BD"/>
                </a:solidFill>
                <a:latin typeface="Calibri"/>
              </a:rPr>
              <a:t>Azure 4,60 vs AWS 4,30</a:t>
            </a:r>
          </a:p>
        </p:txBody>
      </p:sp>
      <p:sp>
        <p:nvSpPr>
          <p:cNvPr id="12" name="TextBox 11"/>
          <p:cNvSpPr txBox="1"/>
          <p:nvPr/>
        </p:nvSpPr>
        <p:spPr>
          <a:xfrm>
            <a:off x="8046720" y="2926080"/>
            <a:ext cx="3566160" cy="3017520"/>
          </a:xfrm>
          <a:prstGeom prst="rect">
            <a:avLst/>
          </a:prstGeom>
          <a:noFill/>
        </p:spPr>
        <p:txBody>
          <a:bodyPr wrap="square">
            <a:spAutoFit/>
          </a:bodyPr>
          <a:lstStyle/>
          <a:p>
            <a:pPr>
              <a:spcAft>
                <a:spcPts val="800"/>
              </a:spcAft>
            </a:pPr>
            <a:r>
              <a:rPr sz="1400">
                <a:solidFill>
                  <a:srgbClr val="262626"/>
                </a:solidFill>
                <a:latin typeface="Calibri"/>
              </a:rPr>
              <a:t>▸ Integración nativa con la seguridad corporativa.</a:t>
            </a:r>
          </a:p>
          <a:p>
            <a:pPr>
              <a:spcAft>
                <a:spcPts val="800"/>
              </a:spcAft>
            </a:pPr>
            <a:r>
              <a:rPr sz="1400">
                <a:solidFill>
                  <a:srgbClr val="262626"/>
                </a:solidFill>
                <a:latin typeface="Calibri"/>
              </a:rPr>
              <a:t>▸ Servicios de salud (FHIR) e IA con red privada.</a:t>
            </a:r>
          </a:p>
          <a:p>
            <a:pPr>
              <a:spcAft>
                <a:spcPts val="800"/>
              </a:spcAft>
            </a:pPr>
            <a:r>
              <a:rPr sz="1400">
                <a:solidFill>
                  <a:srgbClr val="262626"/>
                </a:solidFill>
                <a:latin typeface="Calibri"/>
              </a:rPr>
              <a:t>▸ AWS es más barato en lista; las reservas reducen la diferencia.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Estimación de costos mensual</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Precios de lista en USD, pago por uso, consultados en octubre de 2026</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17</a:t>
            </a:r>
          </a:p>
        </p:txBody>
      </p:sp>
      <p:graphicFrame>
        <p:nvGraphicFramePr>
          <p:cNvPr id="8" name="Chart 7"/>
          <p:cNvGraphicFramePr>
            <a:graphicFrameLocks noGrp="1"/>
          </p:cNvGraphicFramePr>
          <p:nvPr/>
        </p:nvGraphicFramePr>
        <p:xfrm>
          <a:off x="457200" y="1417320"/>
          <a:ext cx="6949440" cy="4937760"/>
        </p:xfrm>
        <a:graphic>
          <a:graphicData uri="http://schemas.openxmlformats.org/drawingml/2006/chart">
            <c:chart xmlns:c="http://schemas.openxmlformats.org/drawingml/2006/chart" r:id="rId2"/>
          </a:graphicData>
        </a:graphic>
      </p:graphicFrame>
      <p:sp>
        <p:nvSpPr>
          <p:cNvPr id="9" name="Rectangle 8"/>
          <p:cNvSpPr/>
          <p:nvPr/>
        </p:nvSpPr>
        <p:spPr>
          <a:xfrm>
            <a:off x="7772400" y="1463040"/>
            <a:ext cx="3931920" cy="109728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1536192"/>
            <a:ext cx="3657600" cy="365760"/>
          </a:xfrm>
          <a:prstGeom prst="rect">
            <a:avLst/>
          </a:prstGeom>
          <a:noFill/>
        </p:spPr>
        <p:txBody>
          <a:bodyPr wrap="square" anchor="t" lIns="45720" rIns="45720">
            <a:spAutoFit/>
          </a:bodyPr>
          <a:lstStyle/>
          <a:p>
            <a:pPr algn="l"/>
            <a:r>
              <a:rPr sz="1400" b="0">
                <a:solidFill>
                  <a:srgbClr val="595959"/>
                </a:solidFill>
                <a:latin typeface="Calibri"/>
              </a:rPr>
              <a:t>Azure / mes</a:t>
            </a:r>
          </a:p>
        </p:txBody>
      </p:sp>
      <p:sp>
        <p:nvSpPr>
          <p:cNvPr id="11" name="TextBox 10"/>
          <p:cNvSpPr txBox="1"/>
          <p:nvPr/>
        </p:nvSpPr>
        <p:spPr>
          <a:xfrm>
            <a:off x="7955279" y="1847088"/>
            <a:ext cx="3657600" cy="640080"/>
          </a:xfrm>
          <a:prstGeom prst="rect">
            <a:avLst/>
          </a:prstGeom>
          <a:noFill/>
        </p:spPr>
        <p:txBody>
          <a:bodyPr wrap="square" anchor="t" lIns="45720" rIns="45720">
            <a:spAutoFit/>
          </a:bodyPr>
          <a:lstStyle/>
          <a:p>
            <a:pPr algn="l"/>
            <a:r>
              <a:rPr sz="3000" b="1">
                <a:solidFill>
                  <a:srgbClr val="1168BD"/>
                </a:solidFill>
                <a:latin typeface="Calibri"/>
              </a:rPr>
              <a:t>$7.923</a:t>
            </a:r>
          </a:p>
        </p:txBody>
      </p:sp>
      <p:sp>
        <p:nvSpPr>
          <p:cNvPr id="12" name="Rectangle 11"/>
          <p:cNvSpPr/>
          <p:nvPr/>
        </p:nvSpPr>
        <p:spPr>
          <a:xfrm>
            <a:off x="7772400" y="2697480"/>
            <a:ext cx="3931920" cy="109728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9" y="2770632"/>
            <a:ext cx="3657600" cy="365760"/>
          </a:xfrm>
          <a:prstGeom prst="rect">
            <a:avLst/>
          </a:prstGeom>
          <a:noFill/>
        </p:spPr>
        <p:txBody>
          <a:bodyPr wrap="square" anchor="t" lIns="45720" rIns="45720">
            <a:spAutoFit/>
          </a:bodyPr>
          <a:lstStyle/>
          <a:p>
            <a:pPr algn="l"/>
            <a:r>
              <a:rPr sz="1400" b="0">
                <a:solidFill>
                  <a:srgbClr val="595959"/>
                </a:solidFill>
                <a:latin typeface="Calibri"/>
              </a:rPr>
              <a:t>AWS / mes</a:t>
            </a:r>
          </a:p>
        </p:txBody>
      </p:sp>
      <p:sp>
        <p:nvSpPr>
          <p:cNvPr id="14" name="TextBox 13"/>
          <p:cNvSpPr txBox="1"/>
          <p:nvPr/>
        </p:nvSpPr>
        <p:spPr>
          <a:xfrm>
            <a:off x="7955279" y="3081528"/>
            <a:ext cx="3657600" cy="640080"/>
          </a:xfrm>
          <a:prstGeom prst="rect">
            <a:avLst/>
          </a:prstGeom>
          <a:noFill/>
        </p:spPr>
        <p:txBody>
          <a:bodyPr wrap="square" anchor="t" lIns="45720" rIns="45720">
            <a:spAutoFit/>
          </a:bodyPr>
          <a:lstStyle/>
          <a:p>
            <a:pPr algn="l"/>
            <a:r>
              <a:rPr sz="3000" b="1">
                <a:solidFill>
                  <a:srgbClr val="D86C1F"/>
                </a:solidFill>
                <a:latin typeface="Calibri"/>
              </a:rPr>
              <a:t>$5.121</a:t>
            </a:r>
          </a:p>
        </p:txBody>
      </p:sp>
      <p:sp>
        <p:nvSpPr>
          <p:cNvPr id="15" name="Rectangle 14"/>
          <p:cNvSpPr/>
          <p:nvPr/>
        </p:nvSpPr>
        <p:spPr>
          <a:xfrm>
            <a:off x="7772400" y="3931920"/>
            <a:ext cx="3931920" cy="109728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4005072"/>
            <a:ext cx="3657600" cy="365760"/>
          </a:xfrm>
          <a:prstGeom prst="rect">
            <a:avLst/>
          </a:prstGeom>
          <a:noFill/>
        </p:spPr>
        <p:txBody>
          <a:bodyPr wrap="square" anchor="t" lIns="45720" rIns="45720">
            <a:spAutoFit/>
          </a:bodyPr>
          <a:lstStyle/>
          <a:p>
            <a:pPr algn="l"/>
            <a:r>
              <a:rPr sz="1400" b="0">
                <a:solidFill>
                  <a:srgbClr val="595959"/>
                </a:solidFill>
                <a:latin typeface="Calibri"/>
              </a:rPr>
              <a:t>Azure / año</a:t>
            </a:r>
          </a:p>
        </p:txBody>
      </p:sp>
      <p:sp>
        <p:nvSpPr>
          <p:cNvPr id="17" name="TextBox 16"/>
          <p:cNvSpPr txBox="1"/>
          <p:nvPr/>
        </p:nvSpPr>
        <p:spPr>
          <a:xfrm>
            <a:off x="7955279" y="4315968"/>
            <a:ext cx="3657600" cy="640080"/>
          </a:xfrm>
          <a:prstGeom prst="rect">
            <a:avLst/>
          </a:prstGeom>
          <a:noFill/>
        </p:spPr>
        <p:txBody>
          <a:bodyPr wrap="square" anchor="t" lIns="45720" rIns="45720">
            <a:spAutoFit/>
          </a:bodyPr>
          <a:lstStyle/>
          <a:p>
            <a:pPr algn="l"/>
            <a:r>
              <a:rPr sz="3000" b="1">
                <a:solidFill>
                  <a:srgbClr val="0B3C5D"/>
                </a:solidFill>
                <a:latin typeface="Calibri"/>
              </a:rPr>
              <a:t>$95.071</a:t>
            </a:r>
          </a:p>
        </p:txBody>
      </p:sp>
      <p:sp>
        <p:nvSpPr>
          <p:cNvPr id="18" name="TextBox 17"/>
          <p:cNvSpPr txBox="1"/>
          <p:nvPr/>
        </p:nvSpPr>
        <p:spPr>
          <a:xfrm>
            <a:off x="7772400" y="5257800"/>
            <a:ext cx="3931920" cy="1097280"/>
          </a:xfrm>
          <a:prstGeom prst="rect">
            <a:avLst/>
          </a:prstGeom>
          <a:noFill/>
        </p:spPr>
        <p:txBody>
          <a:bodyPr wrap="square" anchor="t" lIns="45720" rIns="45720">
            <a:spAutoFit/>
          </a:bodyPr>
          <a:lstStyle/>
          <a:p>
            <a:pPr algn="l"/>
            <a:r>
              <a:rPr sz="1200" b="0">
                <a:solidFill>
                  <a:srgbClr val="595959"/>
                </a:solidFill>
                <a:latin typeface="Calibri"/>
              </a:rPr>
              <a:t>Incluye producción en 2 regiones y ambiente de desarrollo.</a:t>
            </a:r>
          </a:p>
          <a:p>
            <a:pPr algn="l"/>
            <a:r>
              <a:rPr sz="1200" b="0">
                <a:solidFill>
                  <a:srgbClr val="595959"/>
                </a:solidFill>
                <a:latin typeface="Calibri"/>
              </a:rPr>
              <a:t>Detalle y fuentes: Estimacion_Costos_Medical_Health.xlsx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Optimización de costos</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Cómo bajar la factura sin perder disponibilidad</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18</a:t>
            </a:r>
          </a:p>
        </p:txBody>
      </p:sp>
      <p:graphicFrame>
        <p:nvGraphicFramePr>
          <p:cNvPr id="8" name="Chart 7"/>
          <p:cNvGraphicFramePr>
            <a:graphicFrameLocks noGrp="1"/>
          </p:cNvGraphicFramePr>
          <p:nvPr/>
        </p:nvGraphicFramePr>
        <p:xfrm>
          <a:off x="457200" y="1463040"/>
          <a:ext cx="5486400" cy="4754880"/>
        </p:xfrm>
        <a:graphic>
          <a:graphicData uri="http://schemas.openxmlformats.org/drawingml/2006/chart">
            <c:chart xmlns:c="http://schemas.openxmlformats.org/drawingml/2006/chart" r:id="rId2"/>
          </a:graphicData>
        </a:graphic>
      </p:graphicFrame>
      <p:sp>
        <p:nvSpPr>
          <p:cNvPr id="9" name="TextBox 8"/>
          <p:cNvSpPr txBox="1"/>
          <p:nvPr/>
        </p:nvSpPr>
        <p:spPr>
          <a:xfrm>
            <a:off x="6309360" y="1554480"/>
            <a:ext cx="5486400" cy="4754880"/>
          </a:xfrm>
          <a:prstGeom prst="rect">
            <a:avLst/>
          </a:prstGeom>
          <a:noFill/>
        </p:spPr>
        <p:txBody>
          <a:bodyPr wrap="square">
            <a:spAutoFit/>
          </a:bodyPr>
          <a:lstStyle/>
          <a:p>
            <a:pPr>
              <a:spcAft>
                <a:spcPts val="800"/>
              </a:spcAft>
            </a:pPr>
            <a:r>
              <a:rPr b="1" sz="1500">
                <a:solidFill>
                  <a:srgbClr val="0B3C5D"/>
                </a:solidFill>
                <a:latin typeface="Calibri"/>
              </a:rPr>
              <a:t>▸ Instancias reservadas: </a:t>
            </a:r>
            <a:r>
              <a:rPr sz="1500">
                <a:solidFill>
                  <a:srgbClr val="262626"/>
                </a:solidFill>
                <a:latin typeface="Calibri"/>
              </a:rPr>
              <a:t>nodos AKS hasta −60% a 3 años</a:t>
            </a:r>
          </a:p>
          <a:p>
            <a:pPr>
              <a:spcAft>
                <a:spcPts val="800"/>
              </a:spcAft>
            </a:pPr>
            <a:r>
              <a:rPr b="1" sz="1500">
                <a:solidFill>
                  <a:srgbClr val="0B3C5D"/>
                </a:solidFill>
                <a:latin typeface="Calibri"/>
              </a:rPr>
              <a:t>▸ Capacidad reservada: </a:t>
            </a:r>
            <a:r>
              <a:rPr sz="1500">
                <a:solidFill>
                  <a:srgbClr val="262626"/>
                </a:solidFill>
                <a:latin typeface="Calibri"/>
              </a:rPr>
              <a:t>PostgreSQL hasta −60% a 3 años</a:t>
            </a:r>
          </a:p>
          <a:p>
            <a:pPr>
              <a:spcAft>
                <a:spcPts val="800"/>
              </a:spcAft>
            </a:pPr>
            <a:r>
              <a:rPr b="1" sz="1500">
                <a:solidFill>
                  <a:srgbClr val="0B3C5D"/>
                </a:solidFill>
                <a:latin typeface="Calibri"/>
              </a:rPr>
              <a:t>▸ Basic Logs: </a:t>
            </a:r>
            <a:r>
              <a:rPr sz="1500">
                <a:solidFill>
                  <a:srgbClr val="262626"/>
                </a:solidFill>
                <a:latin typeface="Calibri"/>
              </a:rPr>
              <a:t>logs de depuración más baratos (−40%)</a:t>
            </a:r>
          </a:p>
          <a:p>
            <a:pPr>
              <a:spcAft>
                <a:spcPts val="800"/>
              </a:spcAft>
            </a:pPr>
            <a:r>
              <a:rPr b="1" sz="1500">
                <a:solidFill>
                  <a:srgbClr val="0B3C5D"/>
                </a:solidFill>
                <a:latin typeface="Calibri"/>
              </a:rPr>
              <a:t>▸ Dev/Test: </a:t>
            </a:r>
            <a:r>
              <a:rPr sz="1500">
                <a:solidFill>
                  <a:srgbClr val="262626"/>
                </a:solidFill>
                <a:latin typeface="Calibri"/>
              </a:rPr>
              <a:t>apagado automático noches y fines de semana</a:t>
            </a:r>
          </a:p>
          <a:p>
            <a:pPr>
              <a:spcAft>
                <a:spcPts val="800"/>
              </a:spcAft>
            </a:pPr>
            <a:r>
              <a:rPr b="1" sz="1500">
                <a:solidFill>
                  <a:srgbClr val="0B3C5D"/>
                </a:solidFill>
                <a:latin typeface="Calibri"/>
              </a:rPr>
              <a:t>▸ Autoescalado: </a:t>
            </a:r>
            <a:r>
              <a:rPr sz="1500">
                <a:solidFill>
                  <a:srgbClr val="262626"/>
                </a:solidFill>
                <a:latin typeface="Calibri"/>
              </a:rPr>
              <a:t>3 nodos en horas valle, 12 en picos</a:t>
            </a:r>
          </a:p>
          <a:p>
            <a:pPr>
              <a:spcAft>
                <a:spcPts val="800"/>
              </a:spcAft>
            </a:pPr>
            <a:r>
              <a:rPr b="1" sz="1500">
                <a:solidFill>
                  <a:srgbClr val="0B3C5D"/>
                </a:solidFill>
                <a:latin typeface="Calibri"/>
              </a:rPr>
              <a:t>▸ Cost Management: </a:t>
            </a:r>
            <a:r>
              <a:rPr sz="1500">
                <a:solidFill>
                  <a:srgbClr val="262626"/>
                </a:solidFill>
                <a:latin typeface="Calibri"/>
              </a:rPr>
              <a:t>presupuestos y alertas al 90%</a:t>
            </a:r>
          </a:p>
        </p:txBody>
      </p:sp>
      <p:sp>
        <p:nvSpPr>
          <p:cNvPr id="10" name="TextBox 9"/>
          <p:cNvSpPr txBox="1"/>
          <p:nvPr/>
        </p:nvSpPr>
        <p:spPr>
          <a:xfrm>
            <a:off x="6309360" y="5669280"/>
            <a:ext cx="5486400" cy="548640"/>
          </a:xfrm>
          <a:prstGeom prst="rect">
            <a:avLst/>
          </a:prstGeom>
          <a:noFill/>
        </p:spPr>
        <p:txBody>
          <a:bodyPr wrap="square" anchor="t" lIns="45720" rIns="45720">
            <a:spAutoFit/>
          </a:bodyPr>
          <a:lstStyle/>
          <a:p>
            <a:pPr algn="l"/>
            <a:r>
              <a:rPr sz="1500" b="1">
                <a:solidFill>
                  <a:srgbClr val="0B3C5D"/>
                </a:solidFill>
                <a:latin typeface="Calibri"/>
              </a:rPr>
              <a:t>Ahorro: 16% a 1 año · 21% a 3 años · ≈ $27 por enfermera al mes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Plan de implementación</a:t>
            </a:r>
          </a:p>
        </p:txBody>
      </p:sp>
      <p:sp>
        <p:nvSpPr>
          <p:cNvPr id="5" name="TextBox 4"/>
          <p:cNvSpPr txBox="1"/>
          <p:nvPr/>
        </p:nvSpPr>
        <p:spPr>
          <a:xfrm>
            <a:off x="658368" y="987552"/>
            <a:ext cx="10789920" cy="457200"/>
          </a:xfrm>
          <a:prstGeom prst="rect">
            <a:avLst/>
          </a:prstGeom>
          <a:noFill/>
        </p:spPr>
        <p:txBody>
          <a:bodyPr wrap="square" anchor="t" lIns="45720" rIns="45720">
            <a:spAutoFit/>
          </a:bodyPr>
          <a:lstStyle/>
          <a:p>
            <a:pPr algn="l"/>
            <a:r>
              <a:rPr sz="1500" b="0">
                <a:solidFill>
                  <a:srgbClr val="595959"/>
                </a:solidFill>
                <a:latin typeface="Calibri"/>
              </a:rPr>
              <a:t>26 semanas, de la preparación al despliegue para 250 enfermeras</a:t>
            </a:r>
          </a:p>
        </p:txBody>
      </p:sp>
      <p:sp>
        <p:nvSpPr>
          <p:cNvPr id="6" name="TextBox 5"/>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7" name="TextBox 6"/>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19</a:t>
            </a:r>
          </a:p>
        </p:txBody>
      </p:sp>
      <p:pic>
        <p:nvPicPr>
          <p:cNvPr id="8" name="Picture 7" descr="07-cronograma.png"/>
          <p:cNvPicPr>
            <a:picLocks noChangeAspect="1"/>
          </p:cNvPicPr>
          <p:nvPr/>
        </p:nvPicPr>
        <p:blipFill>
          <a:blip r:embed="rId2"/>
          <a:stretch>
            <a:fillRect/>
          </a:stretch>
        </p:blipFill>
        <p:spPr>
          <a:xfrm>
            <a:off x="715754" y="1371600"/>
            <a:ext cx="6798091" cy="5029200"/>
          </a:xfrm>
          <a:prstGeom prst="rect">
            <a:avLst/>
          </a:prstGeom>
        </p:spPr>
      </p:pic>
      <p:sp>
        <p:nvSpPr>
          <p:cNvPr id="9" name="TextBox 8"/>
          <p:cNvSpPr txBox="1"/>
          <p:nvPr/>
        </p:nvSpPr>
        <p:spPr>
          <a:xfrm>
            <a:off x="8046720" y="1554480"/>
            <a:ext cx="3840480" cy="4846320"/>
          </a:xfrm>
          <a:prstGeom prst="rect">
            <a:avLst/>
          </a:prstGeom>
          <a:noFill/>
        </p:spPr>
        <p:txBody>
          <a:bodyPr wrap="square">
            <a:spAutoFit/>
          </a:bodyPr>
          <a:lstStyle/>
          <a:p>
            <a:pPr>
              <a:spcAft>
                <a:spcPts val="500"/>
              </a:spcAft>
            </a:pPr>
            <a:r>
              <a:rPr b="1" sz="1400">
                <a:solidFill>
                  <a:srgbClr val="0B3C5D"/>
                </a:solidFill>
                <a:latin typeface="Calibri"/>
              </a:rPr>
              <a:t>▸ Sem 1-2: </a:t>
            </a:r>
            <a:r>
              <a:rPr sz="1400">
                <a:solidFill>
                  <a:srgbClr val="262626"/>
                </a:solidFill>
                <a:latin typeface="Calibri"/>
              </a:rPr>
              <a:t>landing zone, IaC y CI/CD</a:t>
            </a:r>
          </a:p>
          <a:p>
            <a:pPr>
              <a:spcAft>
                <a:spcPts val="500"/>
              </a:spcAft>
            </a:pPr>
            <a:r>
              <a:rPr b="1" sz="1400">
                <a:solidFill>
                  <a:srgbClr val="0B3C5D"/>
                </a:solidFill>
                <a:latin typeface="Calibri"/>
              </a:rPr>
              <a:t>▸ Sem 3-8: </a:t>
            </a:r>
            <a:r>
              <a:rPr sz="1400">
                <a:solidFill>
                  <a:srgbClr val="262626"/>
                </a:solidFill>
                <a:latin typeface="Calibri"/>
              </a:rPr>
              <a:t>plataforma base y seguridad</a:t>
            </a:r>
          </a:p>
          <a:p>
            <a:pPr>
              <a:spcAft>
                <a:spcPts val="500"/>
              </a:spcAft>
            </a:pPr>
            <a:r>
              <a:rPr b="1" sz="1400">
                <a:solidFill>
                  <a:srgbClr val="0B3C5D"/>
                </a:solidFill>
                <a:latin typeface="Calibri"/>
              </a:rPr>
              <a:t>▸ Sem 9-13: </a:t>
            </a:r>
            <a:r>
              <a:rPr sz="1400">
                <a:solidFill>
                  <a:srgbClr val="262626"/>
                </a:solidFill>
                <a:latin typeface="Calibri"/>
              </a:rPr>
              <a:t>HU01 y HU03</a:t>
            </a:r>
          </a:p>
          <a:p>
            <a:pPr>
              <a:spcAft>
                <a:spcPts val="500"/>
              </a:spcAft>
            </a:pPr>
            <a:r>
              <a:rPr b="1" sz="1400">
                <a:solidFill>
                  <a:srgbClr val="0B3C5D"/>
                </a:solidFill>
                <a:latin typeface="Calibri"/>
              </a:rPr>
              <a:t>▸ Sem 13-19: </a:t>
            </a:r>
            <a:r>
              <a:rPr sz="1400">
                <a:solidFill>
                  <a:srgbClr val="262626"/>
                </a:solidFill>
                <a:latin typeface="Calibri"/>
              </a:rPr>
              <a:t>HU02 y HU04</a:t>
            </a:r>
          </a:p>
          <a:p>
            <a:pPr>
              <a:spcAft>
                <a:spcPts val="500"/>
              </a:spcAft>
            </a:pPr>
            <a:r>
              <a:rPr b="1" sz="1400">
                <a:solidFill>
                  <a:srgbClr val="0B3C5D"/>
                </a:solidFill>
                <a:latin typeface="Calibri"/>
              </a:rPr>
              <a:t>▸ Sem 19-23: </a:t>
            </a:r>
            <a:r>
              <a:rPr sz="1400">
                <a:solidFill>
                  <a:srgbClr val="262626"/>
                </a:solidFill>
                <a:latin typeface="Calibri"/>
              </a:rPr>
              <a:t>pruebas y piloto con 25 enfermeras</a:t>
            </a:r>
          </a:p>
          <a:p>
            <a:pPr>
              <a:spcAft>
                <a:spcPts val="500"/>
              </a:spcAft>
            </a:pPr>
            <a:r>
              <a:rPr b="1" sz="1400">
                <a:solidFill>
                  <a:srgbClr val="0B3C5D"/>
                </a:solidFill>
                <a:latin typeface="Calibri"/>
              </a:rPr>
              <a:t>▸ Sem 24-26: </a:t>
            </a:r>
            <a:r>
              <a:rPr sz="1400">
                <a:solidFill>
                  <a:srgbClr val="262626"/>
                </a:solidFill>
                <a:latin typeface="Calibri"/>
              </a:rPr>
              <a:t>salida gradual a 250 enfermeras</a:t>
            </a:r>
          </a:p>
          <a:p>
            <a:pPr>
              <a:spcAft>
                <a:spcPts val="500"/>
              </a:spcAft>
            </a:pPr>
            <a:r>
              <a:rPr b="1" sz="1400">
                <a:solidFill>
                  <a:srgbClr val="0B3C5D"/>
                </a:solidFill>
                <a:latin typeface="Calibri"/>
              </a:rPr>
              <a:t>▸ Fase 2: </a:t>
            </a:r>
            <a:r>
              <a:rPr sz="1400">
                <a:solidFill>
                  <a:srgbClr val="262626"/>
                </a:solidFill>
                <a:latin typeface="Calibri"/>
              </a:rPr>
              <a:t>canal de pacientes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Riesgos y mitigaciones</a:t>
            </a:r>
          </a:p>
        </p:txBody>
      </p:sp>
      <p:sp>
        <p:nvSpPr>
          <p:cNvPr id="5" name="TextBox 4"/>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6" name="TextBox 5"/>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20</a:t>
            </a:r>
          </a:p>
        </p:txBody>
      </p:sp>
      <p:graphicFrame>
        <p:nvGraphicFramePr>
          <p:cNvPr id="7" name="Table 6"/>
          <p:cNvGraphicFramePr>
            <a:graphicFrameLocks noGrp="1"/>
          </p:cNvGraphicFramePr>
          <p:nvPr/>
        </p:nvGraphicFramePr>
        <p:xfrm>
          <a:off x="548640" y="1463040"/>
          <a:ext cx="11064240" cy="4480560"/>
        </p:xfrm>
        <a:graphic>
          <a:graphicData uri="http://schemas.openxmlformats.org/drawingml/2006/table">
            <a:tbl>
              <a:tblPr firstRow="1" bandRow="1">
                <a:tableStyleId>{5C22544A-7EE6-4342-B048-85BDC9FD1C3A}</a:tableStyleId>
              </a:tblPr>
              <a:tblGrid>
                <a:gridCol w="3657600"/>
                <a:gridCol w="1463040"/>
                <a:gridCol w="5943600"/>
              </a:tblGrid>
              <a:tr h="640080">
                <a:tc>
                  <a:txBody>
                    <a:bodyPr/>
                    <a:lstStyle/>
                    <a:p>
                      <a:pPr>
                        <a:defRPr sz="1400" b="1">
                          <a:solidFill>
                            <a:srgbClr val="FFFFFF"/>
                          </a:solidFill>
                          <a:latin typeface="Calibri"/>
                        </a:defRPr>
                      </a:pPr>
                      <a:r>
                        <a:t>Riesgo</a:t>
                      </a:r>
                    </a:p>
                  </a:txBody>
                  <a:tcPr marL="73152" marR="73152" marT="27432" marB="27432" anchor="ctr">
                    <a:solidFill>
                      <a:srgbClr val="0B3C5D"/>
                    </a:solidFill>
                  </a:tcPr>
                </a:tc>
                <a:tc>
                  <a:txBody>
                    <a:bodyPr/>
                    <a:lstStyle/>
                    <a:p>
                      <a:pPr>
                        <a:defRPr sz="1400" b="1">
                          <a:solidFill>
                            <a:srgbClr val="FFFFFF"/>
                          </a:solidFill>
                          <a:latin typeface="Calibri"/>
                        </a:defRPr>
                      </a:pPr>
                      <a:r>
                        <a:t>Probabilidad</a:t>
                      </a:r>
                    </a:p>
                  </a:txBody>
                  <a:tcPr marL="73152" marR="73152" marT="27432" marB="27432" anchor="ctr">
                    <a:solidFill>
                      <a:srgbClr val="0B3C5D"/>
                    </a:solidFill>
                  </a:tcPr>
                </a:tc>
                <a:tc>
                  <a:txBody>
                    <a:bodyPr/>
                    <a:lstStyle/>
                    <a:p>
                      <a:pPr>
                        <a:defRPr sz="1400" b="1">
                          <a:solidFill>
                            <a:srgbClr val="FFFFFF"/>
                          </a:solidFill>
                          <a:latin typeface="Calibri"/>
                        </a:defRPr>
                      </a:pPr>
                      <a:r>
                        <a:t>Mitigación</a:t>
                      </a:r>
                    </a:p>
                  </a:txBody>
                  <a:tcPr marL="73152" marR="73152" marT="27432" marB="27432" anchor="ctr">
                    <a:solidFill>
                      <a:srgbClr val="0B3C5D"/>
                    </a:solidFill>
                  </a:tcPr>
                </a:tc>
              </a:tr>
              <a:tr h="640080">
                <a:tc>
                  <a:txBody>
                    <a:bodyPr/>
                    <a:lstStyle/>
                    <a:p>
                      <a:pPr>
                        <a:defRPr sz="1400">
                          <a:solidFill>
                            <a:srgbClr val="262626"/>
                          </a:solidFill>
                          <a:latin typeface="Calibri"/>
                        </a:defRPr>
                      </a:pPr>
                      <a:r>
                        <a:t>Indisponibilidad de la región primaria</a:t>
                      </a:r>
                    </a:p>
                  </a:txBody>
                  <a:tcPr marL="73152" marR="73152" marT="27432" marB="27432" anchor="ctr">
                    <a:solidFill>
                      <a:srgbClr val="FFFFFF"/>
                    </a:solidFill>
                  </a:tcPr>
                </a:tc>
                <a:tc>
                  <a:txBody>
                    <a:bodyPr/>
                    <a:lstStyle/>
                    <a:p>
                      <a:pPr>
                        <a:defRPr sz="1400">
                          <a:solidFill>
                            <a:srgbClr val="262626"/>
                          </a:solidFill>
                          <a:latin typeface="Calibri"/>
                        </a:defRPr>
                      </a:pPr>
                      <a:r>
                        <a:t>Media</a:t>
                      </a:r>
                    </a:p>
                  </a:txBody>
                  <a:tcPr marL="73152" marR="73152" marT="27432" marB="27432" anchor="ctr">
                    <a:solidFill>
                      <a:srgbClr val="FFFFFF"/>
                    </a:solidFill>
                  </a:tcPr>
                </a:tc>
                <a:tc>
                  <a:txBody>
                    <a:bodyPr/>
                    <a:lstStyle/>
                    <a:p>
                      <a:pPr>
                        <a:defRPr sz="1400">
                          <a:solidFill>
                            <a:srgbClr val="262626"/>
                          </a:solidFill>
                          <a:latin typeface="Calibri"/>
                        </a:defRPr>
                      </a:pPr>
                      <a:r>
                        <a:t>Failover automático con Front Door, réplica de BD y simulacros trimestrales</a:t>
                      </a:r>
                    </a:p>
                  </a:txBody>
                  <a:tcPr marL="73152" marR="73152" marT="27432" marB="27432" anchor="ctr">
                    <a:solidFill>
                      <a:srgbClr val="FFFFFF"/>
                    </a:solidFill>
                  </a:tcPr>
                </a:tc>
              </a:tr>
              <a:tr h="640080">
                <a:tc>
                  <a:txBody>
                    <a:bodyPr/>
                    <a:lstStyle/>
                    <a:p>
                      <a:pPr>
                        <a:defRPr sz="1400">
                          <a:solidFill>
                            <a:srgbClr val="262626"/>
                          </a:solidFill>
                          <a:latin typeface="Calibri"/>
                        </a:defRPr>
                      </a:pPr>
                      <a:r>
                        <a:t>Sugerencias de diagnóstico incorrectas</a:t>
                      </a:r>
                    </a:p>
                  </a:txBody>
                  <a:tcPr marL="73152" marR="73152" marT="27432" marB="27432" anchor="ctr">
                    <a:solidFill>
                      <a:srgbClr val="EAF2FB"/>
                    </a:solidFill>
                  </a:tcPr>
                </a:tc>
                <a:tc>
                  <a:txBody>
                    <a:bodyPr/>
                    <a:lstStyle/>
                    <a:p>
                      <a:pPr>
                        <a:defRPr sz="1400">
                          <a:solidFill>
                            <a:srgbClr val="262626"/>
                          </a:solidFill>
                          <a:latin typeface="Calibri"/>
                        </a:defRPr>
                      </a:pPr>
                      <a:r>
                        <a:t>Media</a:t>
                      </a:r>
                    </a:p>
                  </a:txBody>
                  <a:tcPr marL="73152" marR="73152" marT="27432" marB="27432" anchor="ctr">
                    <a:solidFill>
                      <a:srgbClr val="EAF2FB"/>
                    </a:solidFill>
                  </a:tcPr>
                </a:tc>
                <a:tc>
                  <a:txBody>
                    <a:bodyPr/>
                    <a:lstStyle/>
                    <a:p>
                      <a:pPr>
                        <a:defRPr sz="1400">
                          <a:solidFill>
                            <a:srgbClr val="262626"/>
                          </a:solidFill>
                          <a:latin typeface="Calibri"/>
                        </a:defRPr>
                      </a:pPr>
                      <a:r>
                        <a:t>Reglas de triaje validadas por médicos, supervisión humana y auditoría de cada sugerencia</a:t>
                      </a:r>
                    </a:p>
                  </a:txBody>
                  <a:tcPr marL="73152" marR="73152" marT="27432" marB="27432" anchor="ctr">
                    <a:solidFill>
                      <a:srgbClr val="EAF2FB"/>
                    </a:solidFill>
                  </a:tcPr>
                </a:tc>
              </a:tr>
              <a:tr h="640080">
                <a:tc>
                  <a:txBody>
                    <a:bodyPr/>
                    <a:lstStyle/>
                    <a:p>
                      <a:pPr>
                        <a:defRPr sz="1400">
                          <a:solidFill>
                            <a:srgbClr val="262626"/>
                          </a:solidFill>
                          <a:latin typeface="Calibri"/>
                        </a:defRPr>
                      </a:pPr>
                      <a:r>
                        <a:t>Fuga de datos clínicos</a:t>
                      </a:r>
                    </a:p>
                  </a:txBody>
                  <a:tcPr marL="73152" marR="73152" marT="27432" marB="27432" anchor="ctr">
                    <a:solidFill>
                      <a:srgbClr val="FFFFFF"/>
                    </a:solidFill>
                  </a:tcPr>
                </a:tc>
                <a:tc>
                  <a:txBody>
                    <a:bodyPr/>
                    <a:lstStyle/>
                    <a:p>
                      <a:pPr>
                        <a:defRPr sz="1400">
                          <a:solidFill>
                            <a:srgbClr val="262626"/>
                          </a:solidFill>
                          <a:latin typeface="Calibri"/>
                        </a:defRPr>
                      </a:pPr>
                      <a:r>
                        <a:t>Baja</a:t>
                      </a:r>
                    </a:p>
                  </a:txBody>
                  <a:tcPr marL="73152" marR="73152" marT="27432" marB="27432" anchor="ctr">
                    <a:solidFill>
                      <a:srgbClr val="FFFFFF"/>
                    </a:solidFill>
                  </a:tcPr>
                </a:tc>
                <a:tc>
                  <a:txBody>
                    <a:bodyPr/>
                    <a:lstStyle/>
                    <a:p>
                      <a:pPr>
                        <a:defRPr sz="1400">
                          <a:solidFill>
                            <a:srgbClr val="262626"/>
                          </a:solidFill>
                          <a:latin typeface="Calibri"/>
                        </a:defRPr>
                      </a:pPr>
                      <a:r>
                        <a:t>Red privada, cifrado, mínimo privilegio, anonimización y Defender for Cloud</a:t>
                      </a:r>
                    </a:p>
                  </a:txBody>
                  <a:tcPr marL="73152" marR="73152" marT="27432" marB="27432" anchor="ctr">
                    <a:solidFill>
                      <a:srgbClr val="FFFFFF"/>
                    </a:solidFill>
                  </a:tcPr>
                </a:tc>
              </a:tr>
              <a:tr h="640080">
                <a:tc>
                  <a:txBody>
                    <a:bodyPr/>
                    <a:lstStyle/>
                    <a:p>
                      <a:pPr>
                        <a:defRPr sz="1400">
                          <a:solidFill>
                            <a:srgbClr val="262626"/>
                          </a:solidFill>
                          <a:latin typeface="Calibri"/>
                        </a:defRPr>
                      </a:pPr>
                      <a:r>
                        <a:t>Sobrecostos por crecimiento</a:t>
                      </a:r>
                    </a:p>
                  </a:txBody>
                  <a:tcPr marL="73152" marR="73152" marT="27432" marB="27432" anchor="ctr">
                    <a:solidFill>
                      <a:srgbClr val="EAF2FB"/>
                    </a:solidFill>
                  </a:tcPr>
                </a:tc>
                <a:tc>
                  <a:txBody>
                    <a:bodyPr/>
                    <a:lstStyle/>
                    <a:p>
                      <a:pPr>
                        <a:defRPr sz="1400">
                          <a:solidFill>
                            <a:srgbClr val="262626"/>
                          </a:solidFill>
                          <a:latin typeface="Calibri"/>
                        </a:defRPr>
                      </a:pPr>
                      <a:r>
                        <a:t>Media</a:t>
                      </a:r>
                    </a:p>
                  </a:txBody>
                  <a:tcPr marL="73152" marR="73152" marT="27432" marB="27432" anchor="ctr">
                    <a:solidFill>
                      <a:srgbClr val="EAF2FB"/>
                    </a:solidFill>
                  </a:tcPr>
                </a:tc>
                <a:tc>
                  <a:txBody>
                    <a:bodyPr/>
                    <a:lstStyle/>
                    <a:p>
                      <a:pPr>
                        <a:defRPr sz="1400">
                          <a:solidFill>
                            <a:srgbClr val="262626"/>
                          </a:solidFill>
                          <a:latin typeface="Calibri"/>
                        </a:defRPr>
                      </a:pPr>
                      <a:r>
                        <a:t>Presupuestos y alertas de costo, reservas y autoescalado con límites</a:t>
                      </a:r>
                    </a:p>
                  </a:txBody>
                  <a:tcPr marL="73152" marR="73152" marT="27432" marB="27432" anchor="ctr">
                    <a:solidFill>
                      <a:srgbClr val="EAF2FB"/>
                    </a:solidFill>
                  </a:tcPr>
                </a:tc>
              </a:tr>
              <a:tr h="640080">
                <a:tc>
                  <a:txBody>
                    <a:bodyPr/>
                    <a:lstStyle/>
                    <a:p>
                      <a:pPr>
                        <a:defRPr sz="1400">
                          <a:solidFill>
                            <a:srgbClr val="262626"/>
                          </a:solidFill>
                          <a:latin typeface="Calibri"/>
                        </a:defRPr>
                      </a:pPr>
                      <a:r>
                        <a:t>Integración con el sistema de seguridad corporativo</a:t>
                      </a:r>
                    </a:p>
                  </a:txBody>
                  <a:tcPr marL="73152" marR="73152" marT="27432" marB="27432" anchor="ctr">
                    <a:solidFill>
                      <a:srgbClr val="FFFFFF"/>
                    </a:solidFill>
                  </a:tcPr>
                </a:tc>
                <a:tc>
                  <a:txBody>
                    <a:bodyPr/>
                    <a:lstStyle/>
                    <a:p>
                      <a:pPr>
                        <a:defRPr sz="1400">
                          <a:solidFill>
                            <a:srgbClr val="262626"/>
                          </a:solidFill>
                          <a:latin typeface="Calibri"/>
                        </a:defRPr>
                      </a:pPr>
                      <a:r>
                        <a:t>Media</a:t>
                      </a:r>
                    </a:p>
                  </a:txBody>
                  <a:tcPr marL="73152" marR="73152" marT="27432" marB="27432" anchor="ctr">
                    <a:solidFill>
                      <a:srgbClr val="FFFFFF"/>
                    </a:solidFill>
                  </a:tcPr>
                </a:tc>
                <a:tc>
                  <a:txBody>
                    <a:bodyPr/>
                    <a:lstStyle/>
                    <a:p>
                      <a:pPr>
                        <a:defRPr sz="1400">
                          <a:solidFill>
                            <a:srgbClr val="262626"/>
                          </a:solidFill>
                          <a:latin typeface="Calibri"/>
                        </a:defRPr>
                      </a:pPr>
                      <a:r>
                        <a:t>Prueba de concepto de federación OIDC en la fase 1</a:t>
                      </a:r>
                    </a:p>
                  </a:txBody>
                  <a:tcPr marL="73152" marR="73152" marT="27432" marB="27432" anchor="ctr">
                    <a:solidFill>
                      <a:srgbClr val="FFFFFF"/>
                    </a:solidFill>
                  </a:tcPr>
                </a:tc>
              </a:tr>
              <a:tr h="640080">
                <a:tc>
                  <a:txBody>
                    <a:bodyPr/>
                    <a:lstStyle/>
                    <a:p>
                      <a:pPr>
                        <a:defRPr sz="1400">
                          <a:solidFill>
                            <a:srgbClr val="262626"/>
                          </a:solidFill>
                          <a:latin typeface="Calibri"/>
                        </a:defRPr>
                      </a:pPr>
                      <a:r>
                        <a:t>Resistencia al cambio de las enfermeras</a:t>
                      </a:r>
                    </a:p>
                  </a:txBody>
                  <a:tcPr marL="73152" marR="73152" marT="27432" marB="27432" anchor="ctr">
                    <a:solidFill>
                      <a:srgbClr val="EAF2FB"/>
                    </a:solidFill>
                  </a:tcPr>
                </a:tc>
                <a:tc>
                  <a:txBody>
                    <a:bodyPr/>
                    <a:lstStyle/>
                    <a:p>
                      <a:pPr>
                        <a:defRPr sz="1400">
                          <a:solidFill>
                            <a:srgbClr val="262626"/>
                          </a:solidFill>
                          <a:latin typeface="Calibri"/>
                        </a:defRPr>
                      </a:pPr>
                      <a:r>
                        <a:t>Baja</a:t>
                      </a:r>
                    </a:p>
                  </a:txBody>
                  <a:tcPr marL="73152" marR="73152" marT="27432" marB="27432" anchor="ctr">
                    <a:solidFill>
                      <a:srgbClr val="EAF2FB"/>
                    </a:solidFill>
                  </a:tcPr>
                </a:tc>
                <a:tc>
                  <a:txBody>
                    <a:bodyPr/>
                    <a:lstStyle/>
                    <a:p>
                      <a:pPr>
                        <a:defRPr sz="1400">
                          <a:solidFill>
                            <a:srgbClr val="262626"/>
                          </a:solidFill>
                          <a:latin typeface="Calibri"/>
                        </a:defRPr>
                      </a:pPr>
                      <a:r>
                        <a:t>Piloto con 25 enfermeras, capacitación y soporte durante la estabilización</a:t>
                      </a:r>
                    </a:p>
                  </a:txBody>
                  <a:tcPr marL="73152" marR="73152" marT="27432" marB="27432" anchor="ctr">
                    <a:solidFill>
                      <a:srgbClr val="EAF2FB"/>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82296" cy="566928"/>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515600" cy="731520"/>
          </a:xfrm>
          <a:prstGeom prst="rect">
            <a:avLst/>
          </a:prstGeom>
          <a:noFill/>
        </p:spPr>
        <p:txBody>
          <a:bodyPr wrap="square" anchor="ctr" lIns="45720" rIns="45720">
            <a:spAutoFit/>
          </a:bodyPr>
          <a:lstStyle/>
          <a:p>
            <a:pPr algn="l"/>
            <a:r>
              <a:rPr sz="3000" b="1">
                <a:solidFill>
                  <a:srgbClr val="0B3C5D"/>
                </a:solidFill>
                <a:latin typeface="Calibri"/>
              </a:rPr>
              <a:t>Conclusiones</a:t>
            </a:r>
          </a:p>
        </p:txBody>
      </p:sp>
      <p:sp>
        <p:nvSpPr>
          <p:cNvPr id="5" name="TextBox 4"/>
          <p:cNvSpPr txBox="1"/>
          <p:nvPr/>
        </p:nvSpPr>
        <p:spPr>
          <a:xfrm>
            <a:off x="457200" y="6446520"/>
            <a:ext cx="7315200" cy="320040"/>
          </a:xfrm>
          <a:prstGeom prst="rect">
            <a:avLst/>
          </a:prstGeom>
          <a:noFill/>
        </p:spPr>
        <p:txBody>
          <a:bodyPr wrap="square" anchor="t" lIns="45720" rIns="45720">
            <a:spAutoFit/>
          </a:bodyPr>
          <a:lstStyle/>
          <a:p>
            <a:pPr algn="l"/>
            <a:r>
              <a:rPr sz="1000" b="0">
                <a:solidFill>
                  <a:srgbClr val="595959"/>
                </a:solidFill>
                <a:latin typeface="Calibri"/>
              </a:rPr>
              <a:t>Plataforma de Atención de Enfermería · Hospital Medical Health</a:t>
            </a:r>
          </a:p>
        </p:txBody>
      </p:sp>
      <p:sp>
        <p:nvSpPr>
          <p:cNvPr id="6" name="TextBox 5"/>
          <p:cNvSpPr txBox="1"/>
          <p:nvPr/>
        </p:nvSpPr>
        <p:spPr>
          <a:xfrm>
            <a:off x="10972800" y="6446520"/>
            <a:ext cx="822960" cy="320040"/>
          </a:xfrm>
          <a:prstGeom prst="rect">
            <a:avLst/>
          </a:prstGeom>
          <a:noFill/>
        </p:spPr>
        <p:txBody>
          <a:bodyPr wrap="square" anchor="t" lIns="45720" rIns="45720">
            <a:spAutoFit/>
          </a:bodyPr>
          <a:lstStyle/>
          <a:p>
            <a:pPr algn="r"/>
            <a:r>
              <a:rPr sz="1000" b="0">
                <a:solidFill>
                  <a:srgbClr val="595959"/>
                </a:solidFill>
                <a:latin typeface="Calibri"/>
              </a:rPr>
              <a:t>21</a:t>
            </a:r>
          </a:p>
        </p:txBody>
      </p:sp>
      <p:sp>
        <p:nvSpPr>
          <p:cNvPr id="7" name="Oval 6"/>
          <p:cNvSpPr/>
          <p:nvPr/>
        </p:nvSpPr>
        <p:spPr>
          <a:xfrm>
            <a:off x="640080" y="1463040"/>
            <a:ext cx="777240" cy="77724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777240" cy="777240"/>
          </a:xfrm>
          <a:prstGeom prst="rect">
            <a:avLst/>
          </a:prstGeom>
          <a:noFill/>
        </p:spPr>
        <p:txBody>
          <a:bodyPr wrap="square" anchor="ctr" lIns="45720" rIns="45720">
            <a:spAutoFit/>
          </a:bodyPr>
          <a:lstStyle/>
          <a:p>
            <a:pPr algn="ctr"/>
            <a:r>
              <a:rPr sz="2600" b="1">
                <a:solidFill>
                  <a:srgbClr val="FFFFFF"/>
                </a:solidFill>
                <a:latin typeface="Calibri"/>
              </a:rPr>
              <a:t>✓</a:t>
            </a:r>
          </a:p>
        </p:txBody>
      </p:sp>
      <p:sp>
        <p:nvSpPr>
          <p:cNvPr id="9" name="TextBox 8"/>
          <p:cNvSpPr txBox="1"/>
          <p:nvPr/>
        </p:nvSpPr>
        <p:spPr>
          <a:xfrm>
            <a:off x="1645920" y="1463040"/>
            <a:ext cx="3108960" cy="777240"/>
          </a:xfrm>
          <a:prstGeom prst="rect">
            <a:avLst/>
          </a:prstGeom>
          <a:noFill/>
        </p:spPr>
        <p:txBody>
          <a:bodyPr wrap="square" anchor="ctr" lIns="45720" rIns="45720">
            <a:spAutoFit/>
          </a:bodyPr>
          <a:lstStyle/>
          <a:p>
            <a:pPr algn="l"/>
            <a:r>
              <a:rPr sz="2000" b="1">
                <a:solidFill>
                  <a:srgbClr val="0B3C5D"/>
                </a:solidFill>
                <a:latin typeface="Calibri"/>
              </a:rPr>
              <a:t>Cubre las 4 historias</a:t>
            </a:r>
          </a:p>
        </p:txBody>
      </p:sp>
      <p:sp>
        <p:nvSpPr>
          <p:cNvPr id="10" name="TextBox 9"/>
          <p:cNvSpPr txBox="1"/>
          <p:nvPr/>
        </p:nvSpPr>
        <p:spPr>
          <a:xfrm>
            <a:off x="4754880" y="1463040"/>
            <a:ext cx="6949440" cy="777240"/>
          </a:xfrm>
          <a:prstGeom prst="rect">
            <a:avLst/>
          </a:prstGeom>
          <a:noFill/>
        </p:spPr>
        <p:txBody>
          <a:bodyPr wrap="square" anchor="ctr" lIns="45720" rIns="45720">
            <a:spAutoFit/>
          </a:bodyPr>
          <a:lstStyle/>
          <a:p>
            <a:pPr algn="l"/>
            <a:r>
              <a:rPr sz="1800" b="0">
                <a:solidFill>
                  <a:srgbClr val="262626"/>
                </a:solidFill>
                <a:latin typeface="Calibri"/>
              </a:rPr>
              <a:t>con microservicios independientes y escalables.</a:t>
            </a:r>
          </a:p>
        </p:txBody>
      </p:sp>
      <p:sp>
        <p:nvSpPr>
          <p:cNvPr id="11" name="Oval 10"/>
          <p:cNvSpPr/>
          <p:nvPr/>
        </p:nvSpPr>
        <p:spPr>
          <a:xfrm>
            <a:off x="640080" y="2423160"/>
            <a:ext cx="777240" cy="77724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423160"/>
            <a:ext cx="777240" cy="777240"/>
          </a:xfrm>
          <a:prstGeom prst="rect">
            <a:avLst/>
          </a:prstGeom>
          <a:noFill/>
        </p:spPr>
        <p:txBody>
          <a:bodyPr wrap="square" anchor="ctr" lIns="45720" rIns="45720">
            <a:spAutoFit/>
          </a:bodyPr>
          <a:lstStyle/>
          <a:p>
            <a:pPr algn="ctr"/>
            <a:r>
              <a:rPr sz="2600" b="1">
                <a:solidFill>
                  <a:srgbClr val="FFFFFF"/>
                </a:solidFill>
                <a:latin typeface="Calibri"/>
              </a:rPr>
              <a:t>✓</a:t>
            </a:r>
          </a:p>
        </p:txBody>
      </p:sp>
      <p:sp>
        <p:nvSpPr>
          <p:cNvPr id="13" name="TextBox 12"/>
          <p:cNvSpPr txBox="1"/>
          <p:nvPr/>
        </p:nvSpPr>
        <p:spPr>
          <a:xfrm>
            <a:off x="1645920" y="2423160"/>
            <a:ext cx="3108960" cy="777240"/>
          </a:xfrm>
          <a:prstGeom prst="rect">
            <a:avLst/>
          </a:prstGeom>
          <a:noFill/>
        </p:spPr>
        <p:txBody>
          <a:bodyPr wrap="square" anchor="ctr" lIns="45720" rIns="45720">
            <a:spAutoFit/>
          </a:bodyPr>
          <a:lstStyle/>
          <a:p>
            <a:pPr algn="l"/>
            <a:r>
              <a:rPr sz="2000" b="1">
                <a:solidFill>
                  <a:srgbClr val="0B3C5D"/>
                </a:solidFill>
                <a:latin typeface="Calibri"/>
              </a:rPr>
              <a:t>Segura</a:t>
            </a:r>
          </a:p>
        </p:txBody>
      </p:sp>
      <p:sp>
        <p:nvSpPr>
          <p:cNvPr id="14" name="TextBox 13"/>
          <p:cNvSpPr txBox="1"/>
          <p:nvPr/>
        </p:nvSpPr>
        <p:spPr>
          <a:xfrm>
            <a:off x="4754880" y="2423160"/>
            <a:ext cx="6949440" cy="777240"/>
          </a:xfrm>
          <a:prstGeom prst="rect">
            <a:avLst/>
          </a:prstGeom>
          <a:noFill/>
        </p:spPr>
        <p:txBody>
          <a:bodyPr wrap="square" anchor="ctr" lIns="45720" rIns="45720">
            <a:spAutoFit/>
          </a:bodyPr>
          <a:lstStyle/>
          <a:p>
            <a:pPr algn="l"/>
            <a:r>
              <a:rPr sz="1800" b="0">
                <a:solidFill>
                  <a:srgbClr val="262626"/>
                </a:solidFill>
                <a:latin typeface="Calibri"/>
              </a:rPr>
              <a:t>autenticación centralizada con OIDC, cifrado y red privada.</a:t>
            </a:r>
          </a:p>
        </p:txBody>
      </p:sp>
      <p:sp>
        <p:nvSpPr>
          <p:cNvPr id="15" name="Oval 14"/>
          <p:cNvSpPr/>
          <p:nvPr/>
        </p:nvSpPr>
        <p:spPr>
          <a:xfrm>
            <a:off x="640080" y="3383280"/>
            <a:ext cx="777240" cy="77724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83280"/>
            <a:ext cx="777240" cy="777240"/>
          </a:xfrm>
          <a:prstGeom prst="rect">
            <a:avLst/>
          </a:prstGeom>
          <a:noFill/>
        </p:spPr>
        <p:txBody>
          <a:bodyPr wrap="square" anchor="ctr" lIns="45720" rIns="45720">
            <a:spAutoFit/>
          </a:bodyPr>
          <a:lstStyle/>
          <a:p>
            <a:pPr algn="ctr"/>
            <a:r>
              <a:rPr sz="2600" b="1">
                <a:solidFill>
                  <a:srgbClr val="FFFFFF"/>
                </a:solidFill>
                <a:latin typeface="Calibri"/>
              </a:rPr>
              <a:t>✓</a:t>
            </a:r>
          </a:p>
        </p:txBody>
      </p:sp>
      <p:sp>
        <p:nvSpPr>
          <p:cNvPr id="17" name="TextBox 16"/>
          <p:cNvSpPr txBox="1"/>
          <p:nvPr/>
        </p:nvSpPr>
        <p:spPr>
          <a:xfrm>
            <a:off x="1645920" y="3383280"/>
            <a:ext cx="3108960" cy="777240"/>
          </a:xfrm>
          <a:prstGeom prst="rect">
            <a:avLst/>
          </a:prstGeom>
          <a:noFill/>
        </p:spPr>
        <p:txBody>
          <a:bodyPr wrap="square" anchor="ctr" lIns="45720" rIns="45720">
            <a:spAutoFit/>
          </a:bodyPr>
          <a:lstStyle/>
          <a:p>
            <a:pPr algn="l"/>
            <a:r>
              <a:rPr sz="2000" b="1">
                <a:solidFill>
                  <a:srgbClr val="0B3C5D"/>
                </a:solidFill>
                <a:latin typeface="Calibri"/>
              </a:rPr>
              <a:t>Disponible 24/7</a:t>
            </a:r>
          </a:p>
        </p:txBody>
      </p:sp>
      <p:sp>
        <p:nvSpPr>
          <p:cNvPr id="18" name="TextBox 17"/>
          <p:cNvSpPr txBox="1"/>
          <p:nvPr/>
        </p:nvSpPr>
        <p:spPr>
          <a:xfrm>
            <a:off x="4754880" y="3383280"/>
            <a:ext cx="6949440" cy="777240"/>
          </a:xfrm>
          <a:prstGeom prst="rect">
            <a:avLst/>
          </a:prstGeom>
          <a:noFill/>
        </p:spPr>
        <p:txBody>
          <a:bodyPr wrap="square" anchor="ctr" lIns="45720" rIns="45720">
            <a:spAutoFit/>
          </a:bodyPr>
          <a:lstStyle/>
          <a:p>
            <a:pPr algn="l"/>
            <a:r>
              <a:rPr sz="1800" b="0">
                <a:solidFill>
                  <a:srgbClr val="262626"/>
                </a:solidFill>
                <a:latin typeface="Calibri"/>
              </a:rPr>
              <a:t>3 zonas, 2 regiones, RTO de 1 hora.</a:t>
            </a:r>
          </a:p>
        </p:txBody>
      </p:sp>
      <p:sp>
        <p:nvSpPr>
          <p:cNvPr id="19" name="Oval 18"/>
          <p:cNvSpPr/>
          <p:nvPr/>
        </p:nvSpPr>
        <p:spPr>
          <a:xfrm>
            <a:off x="640080" y="4343400"/>
            <a:ext cx="777240" cy="77724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43400"/>
            <a:ext cx="777240" cy="777240"/>
          </a:xfrm>
          <a:prstGeom prst="rect">
            <a:avLst/>
          </a:prstGeom>
          <a:noFill/>
        </p:spPr>
        <p:txBody>
          <a:bodyPr wrap="square" anchor="ctr" lIns="45720" rIns="45720">
            <a:spAutoFit/>
          </a:bodyPr>
          <a:lstStyle/>
          <a:p>
            <a:pPr algn="ctr"/>
            <a:r>
              <a:rPr sz="2600" b="1">
                <a:solidFill>
                  <a:srgbClr val="FFFFFF"/>
                </a:solidFill>
                <a:latin typeface="Calibri"/>
              </a:rPr>
              <a:t>✓</a:t>
            </a:r>
          </a:p>
        </p:txBody>
      </p:sp>
      <p:sp>
        <p:nvSpPr>
          <p:cNvPr id="21" name="TextBox 20"/>
          <p:cNvSpPr txBox="1"/>
          <p:nvPr/>
        </p:nvSpPr>
        <p:spPr>
          <a:xfrm>
            <a:off x="1645920" y="4343400"/>
            <a:ext cx="3108960" cy="777240"/>
          </a:xfrm>
          <a:prstGeom prst="rect">
            <a:avLst/>
          </a:prstGeom>
          <a:noFill/>
        </p:spPr>
        <p:txBody>
          <a:bodyPr wrap="square" anchor="ctr" lIns="45720" rIns="45720">
            <a:spAutoFit/>
          </a:bodyPr>
          <a:lstStyle/>
          <a:p>
            <a:pPr algn="l"/>
            <a:r>
              <a:rPr sz="2000" b="1">
                <a:solidFill>
                  <a:srgbClr val="0B3C5D"/>
                </a:solidFill>
                <a:latin typeface="Calibri"/>
              </a:rPr>
              <a:t>Costo controlado</a:t>
            </a:r>
          </a:p>
        </p:txBody>
      </p:sp>
      <p:sp>
        <p:nvSpPr>
          <p:cNvPr id="22" name="TextBox 21"/>
          <p:cNvSpPr txBox="1"/>
          <p:nvPr/>
        </p:nvSpPr>
        <p:spPr>
          <a:xfrm>
            <a:off x="4754880" y="4343400"/>
            <a:ext cx="6949440" cy="777240"/>
          </a:xfrm>
          <a:prstGeom prst="rect">
            <a:avLst/>
          </a:prstGeom>
          <a:noFill/>
        </p:spPr>
        <p:txBody>
          <a:bodyPr wrap="square" anchor="ctr" lIns="45720" rIns="45720">
            <a:spAutoFit/>
          </a:bodyPr>
          <a:lstStyle/>
          <a:p>
            <a:pPr algn="l"/>
            <a:r>
              <a:rPr sz="1800" b="0">
                <a:solidFill>
                  <a:srgbClr val="262626"/>
                </a:solidFill>
                <a:latin typeface="Calibri"/>
              </a:rPr>
              <a:t>desde $6.669 al mes con reservas a 1 año.</a:t>
            </a:r>
          </a:p>
        </p:txBody>
      </p:sp>
      <p:sp>
        <p:nvSpPr>
          <p:cNvPr id="23" name="Oval 22"/>
          <p:cNvSpPr/>
          <p:nvPr/>
        </p:nvSpPr>
        <p:spPr>
          <a:xfrm>
            <a:off x="640080" y="5303520"/>
            <a:ext cx="777240" cy="77724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303520"/>
            <a:ext cx="777240" cy="777240"/>
          </a:xfrm>
          <a:prstGeom prst="rect">
            <a:avLst/>
          </a:prstGeom>
          <a:noFill/>
        </p:spPr>
        <p:txBody>
          <a:bodyPr wrap="square" anchor="ctr" lIns="45720" rIns="45720">
            <a:spAutoFit/>
          </a:bodyPr>
          <a:lstStyle/>
          <a:p>
            <a:pPr algn="ctr"/>
            <a:r>
              <a:rPr sz="2600" b="1">
                <a:solidFill>
                  <a:srgbClr val="FFFFFF"/>
                </a:solidFill>
                <a:latin typeface="Calibri"/>
              </a:rPr>
              <a:t>✓</a:t>
            </a:r>
          </a:p>
        </p:txBody>
      </p:sp>
      <p:sp>
        <p:nvSpPr>
          <p:cNvPr id="25" name="TextBox 24"/>
          <p:cNvSpPr txBox="1"/>
          <p:nvPr/>
        </p:nvSpPr>
        <p:spPr>
          <a:xfrm>
            <a:off x="1645920" y="5303520"/>
            <a:ext cx="3108960" cy="777240"/>
          </a:xfrm>
          <a:prstGeom prst="rect">
            <a:avLst/>
          </a:prstGeom>
          <a:noFill/>
        </p:spPr>
        <p:txBody>
          <a:bodyPr wrap="square" anchor="ctr" lIns="45720" rIns="45720">
            <a:spAutoFit/>
          </a:bodyPr>
          <a:lstStyle/>
          <a:p>
            <a:pPr algn="l"/>
            <a:r>
              <a:rPr sz="2000" b="1">
                <a:solidFill>
                  <a:srgbClr val="0B3C5D"/>
                </a:solidFill>
                <a:latin typeface="Calibri"/>
              </a:rPr>
              <a:t>Lista para crecer</a:t>
            </a:r>
          </a:p>
        </p:txBody>
      </p:sp>
      <p:sp>
        <p:nvSpPr>
          <p:cNvPr id="26" name="TextBox 25"/>
          <p:cNvSpPr txBox="1"/>
          <p:nvPr/>
        </p:nvSpPr>
        <p:spPr>
          <a:xfrm>
            <a:off x="4754880" y="5303520"/>
            <a:ext cx="6949440" cy="777240"/>
          </a:xfrm>
          <a:prstGeom prst="rect">
            <a:avLst/>
          </a:prstGeom>
          <a:noFill/>
        </p:spPr>
        <p:txBody>
          <a:bodyPr wrap="square" anchor="ctr" lIns="45720" rIns="45720">
            <a:spAutoFit/>
          </a:bodyPr>
          <a:lstStyle/>
          <a:p>
            <a:pPr algn="l"/>
            <a:r>
              <a:rPr sz="1800" b="0">
                <a:solidFill>
                  <a:srgbClr val="262626"/>
                </a:solidFill>
                <a:latin typeface="Calibri"/>
              </a:rPr>
              <a:t>canal de pacientes en la fase 2 sin rediseñar.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54864"/>
          </a:xfrm>
          <a:prstGeom prst="rect">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103120"/>
            <a:ext cx="10515600" cy="1280160"/>
          </a:xfrm>
          <a:prstGeom prst="rect">
            <a:avLst/>
          </a:prstGeom>
          <a:noFill/>
        </p:spPr>
        <p:txBody>
          <a:bodyPr wrap="square" anchor="t" lIns="45720" rIns="45720">
            <a:spAutoFit/>
          </a:bodyPr>
          <a:lstStyle/>
          <a:p>
            <a:pPr algn="l"/>
            <a:r>
              <a:rPr sz="6000" b="1">
                <a:solidFill>
                  <a:srgbClr val="FFFFFF"/>
                </a:solidFill>
                <a:latin typeface="Calibri"/>
              </a:rPr>
              <a:t>¿Preguntas?</a:t>
            </a:r>
          </a:p>
        </p:txBody>
      </p:sp>
      <p:sp>
        <p:nvSpPr>
          <p:cNvPr id="5" name="TextBox 4"/>
          <p:cNvSpPr txBox="1"/>
          <p:nvPr/>
        </p:nvSpPr>
        <p:spPr>
          <a:xfrm>
            <a:off x="822960" y="3291840"/>
            <a:ext cx="10515600" cy="731520"/>
          </a:xfrm>
          <a:prstGeom prst="rect">
            <a:avLst/>
          </a:prstGeom>
          <a:noFill/>
        </p:spPr>
        <p:txBody>
          <a:bodyPr wrap="square" anchor="t" lIns="45720" rIns="45720">
            <a:spAutoFit/>
          </a:bodyPr>
          <a:lstStyle/>
          <a:p>
            <a:pPr algn="l"/>
            <a:r>
              <a:rPr sz="2600" b="0">
                <a:solidFill>
                  <a:srgbClr val="C9DDEE"/>
                </a:solidFill>
                <a:latin typeface="Calibri"/>
              </a:rPr>
              <a:t>Gracias por su atención</a:t>
            </a:r>
          </a:p>
        </p:txBody>
      </p:sp>
      <p:sp>
        <p:nvSpPr>
          <p:cNvPr id="6" name="TextBox 5"/>
          <p:cNvSpPr txBox="1"/>
          <p:nvPr/>
        </p:nvSpPr>
        <p:spPr>
          <a:xfrm>
            <a:off x="822960" y="4572000"/>
            <a:ext cx="10515600" cy="1097280"/>
          </a:xfrm>
          <a:prstGeom prst="rect">
            <a:avLst/>
          </a:prstGeom>
          <a:noFill/>
        </p:spPr>
        <p:txBody>
          <a:bodyPr wrap="square" anchor="t" lIns="45720" rIns="45720">
            <a:spAutoFit/>
          </a:bodyPr>
          <a:lstStyle/>
          <a:p>
            <a:pPr algn="l"/>
            <a:r>
              <a:rPr sz="1600" b="0">
                <a:solidFill>
                  <a:srgbClr val="C9DDEE"/>
                </a:solidFill>
                <a:latin typeface="Calibri"/>
              </a:rPr>
              <a:t>Anexos: documento de arquitectura, diagramas C4 en Mermaid y estimación de costos en Excel.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Plataforma de Atención de Enfermería - Medical Health</dc:title>
  <dc:subject/>
  <dc:creator/>
  <cp:keywords/>
  <dc:description/>
  <cp:lastModifiedBy/>
  <cp:revision>1</cp:revision>
  <dcterms:created xsi:type="dcterms:W3CDTF">2026-10-04T12:00:00Z</dcterms:created>
  <dcterms:modified xsi:type="dcterms:W3CDTF">2026-10-04T12:00:00Z</dcterms:modified>
  <cp:category/>
</cp:coreProperties>
</file>